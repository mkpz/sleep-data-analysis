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59" r:id="rId2"/>
  </p:sldMasterIdLst>
  <p:notesMasterIdLst>
    <p:notesMasterId r:id="rId22"/>
  </p:notesMasterIdLst>
  <p:sldIdLst>
    <p:sldId id="256" r:id="rId3"/>
    <p:sldId id="258" r:id="rId4"/>
    <p:sldId id="259" r:id="rId5"/>
    <p:sldId id="260" r:id="rId6"/>
    <p:sldId id="261" r:id="rId7"/>
    <p:sldId id="262" r:id="rId8"/>
    <p:sldId id="263" r:id="rId9"/>
    <p:sldId id="264" r:id="rId10"/>
    <p:sldId id="265" r:id="rId11"/>
    <p:sldId id="266" r:id="rId12"/>
    <p:sldId id="267" r:id="rId13"/>
    <p:sldId id="269" r:id="rId14"/>
    <p:sldId id="270" r:id="rId15"/>
    <p:sldId id="271" r:id="rId16"/>
    <p:sldId id="272" r:id="rId17"/>
    <p:sldId id="273" r:id="rId18"/>
    <p:sldId id="274" r:id="rId19"/>
    <p:sldId id="275" r:id="rId20"/>
    <p:sldId id="276"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3BB43E3-8F1C-4D6B-B856-360EFD9CF5DF}" v="14" dt="2022-12-18T20:57:25.954"/>
    <p1510:client id="{2E355080-D2A5-40D7-9DDF-96093BCB1691}" v="25" dt="2022-12-21T01:18:24.865"/>
    <p1510:client id="{2F6EFE65-250C-4342-9184-C448971DCD4C}" v="90" dt="2022-12-18T19:55:50.906"/>
    <p1510:client id="{EF2C0F02-D934-4ECC-AE75-F7EC01319495}" v="6" dt="2022-12-21T02:33:23.69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 Id="rId27"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7137703-DE65-4ABD-B05A-9D602BF6D42C}" type="datetimeFigureOut">
              <a:t>12/20/2022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4FAE62-2920-4D11-8FF9-084FA18ED06C}" type="slidenum">
              <a:t>‹#›</a:t>
            </a:fld>
            <a:endParaRPr lang="en-US"/>
          </a:p>
        </p:txBody>
      </p:sp>
    </p:spTree>
    <p:extLst>
      <p:ext uri="{BB962C8B-B14F-4D97-AF65-F5344CB8AC3E}">
        <p14:creationId xmlns:p14="http://schemas.microsoft.com/office/powerpoint/2010/main" val="32609204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1bde8e5b23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1bde8e5b23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Some says teenages are lack of sleeps, others says that older people tend to have less sleep. So, in this research, we are going to study on how those variables influence on sleep time, especially on the relationship between the age group and the sleep time</a:t>
            </a: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1bde8e5b23a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1bde8e5b23a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1bde8e5b23a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1bde8e5b23a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1bde8e5b23a_0_7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1bde8e5b23a_0_7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Then we are looking specifically on the age group of 15-24 and age above 65, … (ADD MORE)</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1bde8e5b23a_0_7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1bde8e5b23a_0_7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 DON’T KNOW THIS PART)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1bde8e5b23a_0_7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 name="Google Shape;117;g1bde8e5b23a_0_7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1bde8e5b23a_0_6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1bde8e5b23a_0_6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1bde8e5b23a_1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1bde8e5b23a_1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1bde8e5b23a_1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1bde8e5b23a_1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1bde8e5b23a_0_7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 name="Google Shape;153;g1bde8e5b23a_0_7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1bde8e5b23a_0_7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0" name="Google Shape;160;g1bde8e5b23a_0_7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1bc5e5aaeb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 name="Google Shape;169;g1bc5e5aaeb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AIC BIC  to determine best model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1bde8e5b23a_1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1bde8e5b23a_1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1bde8e5b23a_1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1bde8e5b23a_1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1bde8e5b23a_0_8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1bde8e5b23a_0_8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1bde8e5b23a_0_7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1bde8e5b23a_0_7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1bde8e5b23a_0_7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1bde8e5b23a_0_7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1bde8e5b23a_0_7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1bde8e5b23a_0_7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77348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8D38747-4367-4BD2-8D51-C97E202738E2}" type="datetime1">
              <a:rPr lang="en-US" smtClean="0"/>
              <a:t>12/20/2022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4012048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C55A3C-5767-4844-A0A3-83778C2E5409}" type="datetime1">
              <a:rPr lang="en-US" smtClean="0"/>
              <a:t>12/20/2022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5478154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763439"/>
            <a:ext cx="9590550" cy="133349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AE507A8-A5CF-4D38-AB86-7EDDA87A85D4}" type="datetime1">
              <a:rPr lang="en-US" smtClean="0"/>
              <a:t>12/20/2022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7612241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126187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76450"/>
            <a:ext cx="4856841" cy="362267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0716" y="2076451"/>
            <a:ext cx="4856841" cy="3622672"/>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DFCD27C-8599-43EF-BA1D-14DDC1946E06}" type="datetime1">
              <a:rPr lang="en-US" smtClean="0"/>
              <a:t>12/20/2022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6281618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a:extLst>
              <a:ext uri="{FF2B5EF4-FFF2-40B4-BE49-F238E27FC236}">
                <a16:creationId xmlns:a16="http://schemas.microsoft.com/office/drawing/2014/main" id="{37B721FF-D609-4D98-9D19-CF75AA8A54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29200" cy="4099959"/>
          </a:xfrm>
          <a:prstGeom prst="rect">
            <a:avLst/>
          </a:prstGeom>
        </p:spPr>
      </p:pic>
      <p:pic>
        <p:nvPicPr>
          <p:cNvPr id="21" name="Picture 20" descr="Slate-V2-HD-compPhotoInset.png">
            <a:extLst>
              <a:ext uri="{FF2B5EF4-FFF2-40B4-BE49-F238E27FC236}">
                <a16:creationId xmlns:a16="http://schemas.microsoft.com/office/drawing/2014/main" id="{073936BD-C868-433F-8E84-D6DD8E640E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38357" y="1734506"/>
            <a:ext cx="5029200" cy="4099959"/>
          </a:xfrm>
          <a:prstGeom prst="rect">
            <a:avLst/>
          </a:prstGeom>
        </p:spPr>
      </p:pic>
      <p:sp>
        <p:nvSpPr>
          <p:cNvPr id="2" name="Title 1"/>
          <p:cNvSpPr>
            <a:spLocks noGrp="1"/>
          </p:cNvSpPr>
          <p:nvPr>
            <p:ph type="title"/>
          </p:nvPr>
        </p:nvSpPr>
        <p:spPr>
          <a:xfrm>
            <a:off x="913795" y="609600"/>
            <a:ext cx="10353762" cy="97045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46013" y="1855153"/>
            <a:ext cx="4764764" cy="69249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1046013" y="2702103"/>
            <a:ext cx="4764764"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363166" y="1855152"/>
            <a:ext cx="4779582" cy="692495"/>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363167" y="2702103"/>
            <a:ext cx="4779581"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49343D99-809A-49C0-96E5-4250D0B498EE}" type="datetime1">
              <a:rPr lang="en-US" smtClean="0"/>
              <a:t>12/20/2022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133256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143DE9B-B678-4EFB-BB7D-A4370204A0B0}" type="datetime1">
              <a:rPr lang="en-US" smtClean="0"/>
              <a:t>12/20/2022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9539662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8812DA-F765-4142-A6A3-A8ED7235E082}" type="datetime1">
              <a:rPr lang="en-US" smtClean="0"/>
              <a:t>12/20/2022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3278141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8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0800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673351"/>
            <a:ext cx="3706889" cy="301625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E0277FD-7DE6-41D4-930D-AC99F5AFE54E}" type="datetime1">
              <a:rPr lang="en-US" smtClean="0"/>
              <a:t>12/20/2022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4728754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a:extLst>
              <a:ext uri="{FF2B5EF4-FFF2-40B4-BE49-F238E27FC236}">
                <a16:creationId xmlns:a16="http://schemas.microsoft.com/office/drawing/2014/main" id="{4D06E496-ACBA-4063-B4A1-C5C484EE5A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763701"/>
            <a:ext cx="5707899" cy="1675559"/>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73698" y="2679699"/>
            <a:ext cx="4588094" cy="3135695"/>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EA15526-7079-4B7B-987C-1B5FAE11A0FF}" type="datetime1">
              <a:rPr lang="en-US" smtClean="0"/>
              <a:t>12/20/2022</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2478630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a:extLst>
              <a:ext uri="{FF2B5EF4-FFF2-40B4-BE49-F238E27FC236}">
                <a16:creationId xmlns:a16="http://schemas.microsoft.com/office/drawing/2014/main" id="{CE39118B-B3AD-4BD4-BA22-DEFF4E76CE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247728"/>
            <a:ext cx="10353762" cy="543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1F1B079-7EF0-44EE-B798-BCC497C9F3B2}" type="datetime1">
              <a:rPr lang="en-US" smtClean="0"/>
              <a:t>12/20/2022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713153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normAutofit/>
          </a:bodyPr>
          <a:lstStyle>
            <a:lvl1pPr>
              <a:defRPr sz="40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8FF70A8-1D13-4657-95F0-A9EA54967B8D}" type="datetime1">
              <a:rPr lang="en-US" smtClean="0"/>
              <a:t>12/20/2022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486756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1EB90AC-71BD-4C7F-8ACA-7B3F18292E63}" type="datetime1">
              <a:rPr lang="en-US" smtClean="0"/>
              <a:t>12/20/2022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
        <p:nvSpPr>
          <p:cNvPr id="11" name="TextBox 10">
            <a:extLst>
              <a:ext uri="{FF2B5EF4-FFF2-40B4-BE49-F238E27FC236}">
                <a16:creationId xmlns:a16="http://schemas.microsoft.com/office/drawing/2014/main" id="{223F0D53-0705-41B7-8554-09D21E7807F9}"/>
              </a:ext>
            </a:extLst>
          </p:cNvPr>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a:extLst>
              <a:ext uri="{FF2B5EF4-FFF2-40B4-BE49-F238E27FC236}">
                <a16:creationId xmlns:a16="http://schemas.microsoft.com/office/drawing/2014/main" id="{C7F647CD-0F1A-4BB3-89E0-A74F1E1B098D}"/>
              </a:ext>
            </a:extLst>
          </p:cNvPr>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3686611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E6EFC2C-8905-46F0-B443-CE905B76BA01}" type="datetime1">
              <a:rPr lang="en-US" smtClean="0"/>
              <a:t>12/20/2022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269108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8" name="Text Placeholder 3"/>
          <p:cNvSpPr>
            <a:spLocks noGrp="1"/>
          </p:cNvSpPr>
          <p:nvPr>
            <p:ph type="body" sz="half" idx="15"/>
          </p:nvPr>
        </p:nvSpPr>
        <p:spPr>
          <a:xfrm>
            <a:off x="91379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49"/>
            <a:ext cx="3300984" cy="764783"/>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0" name="Text Placeholder 3"/>
          <p:cNvSpPr>
            <a:spLocks noGrp="1"/>
          </p:cNvSpPr>
          <p:nvPr>
            <p:ph type="body" sz="half" idx="16"/>
          </p:nvPr>
        </p:nvSpPr>
        <p:spPr>
          <a:xfrm>
            <a:off x="444143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11" name="Text Placeholder 4"/>
          <p:cNvSpPr>
            <a:spLocks noGrp="1"/>
          </p:cNvSpPr>
          <p:nvPr>
            <p:ph type="body" sz="quarter" idx="13"/>
          </p:nvPr>
        </p:nvSpPr>
        <p:spPr>
          <a:xfrm>
            <a:off x="7966572"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2" name="Text Placeholder 3"/>
          <p:cNvSpPr>
            <a:spLocks noGrp="1"/>
          </p:cNvSpPr>
          <p:nvPr>
            <p:ph type="body" sz="half" idx="17"/>
          </p:nvPr>
        </p:nvSpPr>
        <p:spPr>
          <a:xfrm>
            <a:off x="7966572" y="2768110"/>
            <a:ext cx="3300984" cy="302308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D9079DC3-C9B5-499E-9140-0DC28B7074E2}" type="datetime1">
              <a:rPr lang="en-US" smtClean="0"/>
              <a:t>12/20/2022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9263498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a:extLst>
              <a:ext uri="{FF2B5EF4-FFF2-40B4-BE49-F238E27FC236}">
                <a16:creationId xmlns:a16="http://schemas.microsoft.com/office/drawing/2014/main" id="{7E87C569-D426-4615-ADA7-B370EA9834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a:extLst>
              <a:ext uri="{FF2B5EF4-FFF2-40B4-BE49-F238E27FC236}">
                <a16:creationId xmlns:a16="http://schemas.microsoft.com/office/drawing/2014/main" id="{7B353ED4-7AD0-46C9-88ED-1A16B1433A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a:extLst>
              <a:ext uri="{FF2B5EF4-FFF2-40B4-BE49-F238E27FC236}">
                <a16:creationId xmlns:a16="http://schemas.microsoft.com/office/drawing/2014/main" id="{F561D985-AD57-459A-B3A6-EBF2960397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572443"/>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0BB33EA-E472-4D22-9C03-A9C14AA21CED}" type="datetime1">
              <a:rPr lang="en-US" smtClean="0"/>
              <a:t>12/20/2022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308930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17E833E-1B6D-415F-AD29-75AE8C43BD0D}" type="datetime1">
              <a:rPr lang="en-US" smtClean="0"/>
              <a:t>12/20/2022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318556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52596F-08A7-4B70-989A-F2B1CF31E66B}" type="datetime1">
              <a:rPr lang="en-US" smtClean="0"/>
              <a:t>12/20/2022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6216318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a:off x="2033067" y="896808"/>
            <a:ext cx="1442167" cy="1499933"/>
          </a:xfrm>
          <a:custGeom>
            <a:avLst/>
            <a:gdLst/>
            <a:ahLst/>
            <a:cxnLst/>
            <a:rect l="l" t="t" r="r" b="b"/>
            <a:pathLst>
              <a:path w="43265" h="44998" extrusionOk="0">
                <a:moveTo>
                  <a:pt x="0" y="44998"/>
                </a:moveTo>
                <a:lnTo>
                  <a:pt x="0" y="0"/>
                </a:lnTo>
                <a:lnTo>
                  <a:pt x="43265" y="0"/>
                </a:lnTo>
              </a:path>
            </a:pathLst>
          </a:custGeom>
          <a:noFill/>
          <a:ln w="28575" cap="flat" cmpd="sng">
            <a:solidFill>
              <a:schemeClr val="accent5"/>
            </a:solidFill>
            <a:prstDash val="solid"/>
            <a:miter lim="8000"/>
            <a:headEnd type="none" w="sm" len="sm"/>
            <a:tailEnd type="none" w="sm" len="sm"/>
          </a:ln>
        </p:spPr>
      </p:sp>
      <p:sp>
        <p:nvSpPr>
          <p:cNvPr id="11" name="Google Shape;11;p2"/>
          <p:cNvSpPr/>
          <p:nvPr/>
        </p:nvSpPr>
        <p:spPr>
          <a:xfrm rot="10800000">
            <a:off x="8716751" y="4457234"/>
            <a:ext cx="1442167" cy="1499933"/>
          </a:xfrm>
          <a:custGeom>
            <a:avLst/>
            <a:gdLst/>
            <a:ahLst/>
            <a:cxnLst/>
            <a:rect l="l" t="t" r="r" b="b"/>
            <a:pathLst>
              <a:path w="43265" h="44998" extrusionOk="0">
                <a:moveTo>
                  <a:pt x="0" y="44998"/>
                </a:moveTo>
                <a:lnTo>
                  <a:pt x="0" y="0"/>
                </a:lnTo>
                <a:lnTo>
                  <a:pt x="43265" y="0"/>
                </a:lnTo>
              </a:path>
            </a:pathLst>
          </a:custGeom>
          <a:noFill/>
          <a:ln w="28575" cap="flat" cmpd="sng">
            <a:solidFill>
              <a:schemeClr val="accent5"/>
            </a:solidFill>
            <a:prstDash val="solid"/>
            <a:miter lim="8000"/>
            <a:headEnd type="none" w="sm" len="sm"/>
            <a:tailEnd type="none" w="sm" len="sm"/>
          </a:ln>
        </p:spPr>
      </p:sp>
      <p:cxnSp>
        <p:nvCxnSpPr>
          <p:cNvPr id="12" name="Google Shape;12;p2"/>
          <p:cNvCxnSpPr/>
          <p:nvPr/>
        </p:nvCxnSpPr>
        <p:spPr>
          <a:xfrm>
            <a:off x="5812803" y="3756619"/>
            <a:ext cx="566400" cy="0"/>
          </a:xfrm>
          <a:prstGeom prst="straightConnector1">
            <a:avLst/>
          </a:prstGeom>
          <a:noFill/>
          <a:ln w="38100" cap="flat" cmpd="sng">
            <a:solidFill>
              <a:schemeClr val="accent4"/>
            </a:solidFill>
            <a:prstDash val="solid"/>
            <a:round/>
            <a:headEnd type="none" w="sm" len="sm"/>
            <a:tailEnd type="none" w="sm" len="sm"/>
          </a:ln>
        </p:spPr>
      </p:cxnSp>
      <p:sp>
        <p:nvSpPr>
          <p:cNvPr id="13" name="Google Shape;13;p2"/>
          <p:cNvSpPr txBox="1">
            <a:spLocks noGrp="1"/>
          </p:cNvSpPr>
          <p:nvPr>
            <p:ph type="ctrTitle"/>
          </p:nvPr>
        </p:nvSpPr>
        <p:spPr>
          <a:xfrm>
            <a:off x="2240403" y="1585233"/>
            <a:ext cx="7711200" cy="1943200"/>
          </a:xfrm>
          <a:prstGeom prst="rect">
            <a:avLst/>
          </a:prstGeom>
        </p:spPr>
        <p:txBody>
          <a:bodyPr spcFirstLastPara="1" wrap="square" lIns="91425" tIns="91425" rIns="91425" bIns="91425" anchor="b" anchorCtr="0">
            <a:normAutofit/>
          </a:bodyPr>
          <a:lstStyle>
            <a:lvl1pPr lvl="0" algn="ctr">
              <a:spcBef>
                <a:spcPts val="0"/>
              </a:spcBef>
              <a:spcAft>
                <a:spcPts val="0"/>
              </a:spcAft>
              <a:buSzPts val="4000"/>
              <a:buNone/>
              <a:defRPr sz="5333"/>
            </a:lvl1pPr>
            <a:lvl2pPr lvl="1" algn="ctr">
              <a:spcBef>
                <a:spcPts val="0"/>
              </a:spcBef>
              <a:spcAft>
                <a:spcPts val="0"/>
              </a:spcAft>
              <a:buSzPts val="4000"/>
              <a:buNone/>
              <a:defRPr sz="5333"/>
            </a:lvl2pPr>
            <a:lvl3pPr lvl="2" algn="ctr">
              <a:spcBef>
                <a:spcPts val="0"/>
              </a:spcBef>
              <a:spcAft>
                <a:spcPts val="0"/>
              </a:spcAft>
              <a:buSzPts val="4000"/>
              <a:buNone/>
              <a:defRPr sz="5333"/>
            </a:lvl3pPr>
            <a:lvl4pPr lvl="3" algn="ctr">
              <a:spcBef>
                <a:spcPts val="0"/>
              </a:spcBef>
              <a:spcAft>
                <a:spcPts val="0"/>
              </a:spcAft>
              <a:buSzPts val="4000"/>
              <a:buNone/>
              <a:defRPr sz="5333"/>
            </a:lvl4pPr>
            <a:lvl5pPr lvl="4" algn="ctr">
              <a:spcBef>
                <a:spcPts val="0"/>
              </a:spcBef>
              <a:spcAft>
                <a:spcPts val="0"/>
              </a:spcAft>
              <a:buSzPts val="4000"/>
              <a:buNone/>
              <a:defRPr sz="5333"/>
            </a:lvl5pPr>
            <a:lvl6pPr lvl="5" algn="ctr">
              <a:spcBef>
                <a:spcPts val="0"/>
              </a:spcBef>
              <a:spcAft>
                <a:spcPts val="0"/>
              </a:spcAft>
              <a:buSzPts val="4000"/>
              <a:buNone/>
              <a:defRPr sz="5333"/>
            </a:lvl6pPr>
            <a:lvl7pPr lvl="6" algn="ctr">
              <a:spcBef>
                <a:spcPts val="0"/>
              </a:spcBef>
              <a:spcAft>
                <a:spcPts val="0"/>
              </a:spcAft>
              <a:buSzPts val="4000"/>
              <a:buNone/>
              <a:defRPr sz="5333"/>
            </a:lvl7pPr>
            <a:lvl8pPr lvl="7" algn="ctr">
              <a:spcBef>
                <a:spcPts val="0"/>
              </a:spcBef>
              <a:spcAft>
                <a:spcPts val="0"/>
              </a:spcAft>
              <a:buSzPts val="4000"/>
              <a:buNone/>
              <a:defRPr sz="5333"/>
            </a:lvl8pPr>
            <a:lvl9pPr lvl="8" algn="ctr">
              <a:spcBef>
                <a:spcPts val="0"/>
              </a:spcBef>
              <a:spcAft>
                <a:spcPts val="0"/>
              </a:spcAft>
              <a:buSzPts val="4000"/>
              <a:buNone/>
              <a:defRPr sz="5333"/>
            </a:lvl9pPr>
          </a:lstStyle>
          <a:p>
            <a:endParaRPr/>
          </a:p>
        </p:txBody>
      </p:sp>
      <p:sp>
        <p:nvSpPr>
          <p:cNvPr id="14" name="Google Shape;14;p2"/>
          <p:cNvSpPr txBox="1">
            <a:spLocks noGrp="1"/>
          </p:cNvSpPr>
          <p:nvPr>
            <p:ph type="subTitle" idx="1"/>
          </p:nvPr>
        </p:nvSpPr>
        <p:spPr>
          <a:xfrm>
            <a:off x="2240403" y="4065933"/>
            <a:ext cx="7711200" cy="12120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accent5"/>
              </a:buClr>
              <a:buSzPts val="2400"/>
              <a:buFont typeface="Roboto Slab"/>
              <a:buNone/>
              <a:defRPr sz="3200">
                <a:solidFill>
                  <a:schemeClr val="accent5"/>
                </a:solidFill>
                <a:latin typeface="Roboto Slab"/>
                <a:ea typeface="Roboto Slab"/>
                <a:cs typeface="Roboto Slab"/>
                <a:sym typeface="Roboto Slab"/>
              </a:defRPr>
            </a:lvl1pPr>
            <a:lvl2pPr lvl="1" algn="ctr">
              <a:lnSpc>
                <a:spcPct val="100000"/>
              </a:lnSpc>
              <a:spcBef>
                <a:spcPts val="0"/>
              </a:spcBef>
              <a:spcAft>
                <a:spcPts val="0"/>
              </a:spcAft>
              <a:buClr>
                <a:schemeClr val="accent5"/>
              </a:buClr>
              <a:buSzPts val="2400"/>
              <a:buFont typeface="Roboto Slab"/>
              <a:buNone/>
              <a:defRPr sz="3200">
                <a:solidFill>
                  <a:schemeClr val="accent5"/>
                </a:solidFill>
                <a:latin typeface="Roboto Slab"/>
                <a:ea typeface="Roboto Slab"/>
                <a:cs typeface="Roboto Slab"/>
                <a:sym typeface="Roboto Slab"/>
              </a:defRPr>
            </a:lvl2pPr>
            <a:lvl3pPr lvl="2" algn="ctr">
              <a:lnSpc>
                <a:spcPct val="100000"/>
              </a:lnSpc>
              <a:spcBef>
                <a:spcPts val="0"/>
              </a:spcBef>
              <a:spcAft>
                <a:spcPts val="0"/>
              </a:spcAft>
              <a:buClr>
                <a:schemeClr val="accent5"/>
              </a:buClr>
              <a:buSzPts val="2400"/>
              <a:buFont typeface="Roboto Slab"/>
              <a:buNone/>
              <a:defRPr sz="3200">
                <a:solidFill>
                  <a:schemeClr val="accent5"/>
                </a:solidFill>
                <a:latin typeface="Roboto Slab"/>
                <a:ea typeface="Roboto Slab"/>
                <a:cs typeface="Roboto Slab"/>
                <a:sym typeface="Roboto Slab"/>
              </a:defRPr>
            </a:lvl3pPr>
            <a:lvl4pPr lvl="3" algn="ctr">
              <a:lnSpc>
                <a:spcPct val="100000"/>
              </a:lnSpc>
              <a:spcBef>
                <a:spcPts val="0"/>
              </a:spcBef>
              <a:spcAft>
                <a:spcPts val="0"/>
              </a:spcAft>
              <a:buClr>
                <a:schemeClr val="accent5"/>
              </a:buClr>
              <a:buSzPts val="2400"/>
              <a:buFont typeface="Roboto Slab"/>
              <a:buNone/>
              <a:defRPr sz="3200">
                <a:solidFill>
                  <a:schemeClr val="accent5"/>
                </a:solidFill>
                <a:latin typeface="Roboto Slab"/>
                <a:ea typeface="Roboto Slab"/>
                <a:cs typeface="Roboto Slab"/>
                <a:sym typeface="Roboto Slab"/>
              </a:defRPr>
            </a:lvl4pPr>
            <a:lvl5pPr lvl="4" algn="ctr">
              <a:lnSpc>
                <a:spcPct val="100000"/>
              </a:lnSpc>
              <a:spcBef>
                <a:spcPts val="0"/>
              </a:spcBef>
              <a:spcAft>
                <a:spcPts val="0"/>
              </a:spcAft>
              <a:buClr>
                <a:schemeClr val="accent5"/>
              </a:buClr>
              <a:buSzPts val="2400"/>
              <a:buFont typeface="Roboto Slab"/>
              <a:buNone/>
              <a:defRPr sz="3200">
                <a:solidFill>
                  <a:schemeClr val="accent5"/>
                </a:solidFill>
                <a:latin typeface="Roboto Slab"/>
                <a:ea typeface="Roboto Slab"/>
                <a:cs typeface="Roboto Slab"/>
                <a:sym typeface="Roboto Slab"/>
              </a:defRPr>
            </a:lvl5pPr>
            <a:lvl6pPr lvl="5" algn="ctr">
              <a:lnSpc>
                <a:spcPct val="100000"/>
              </a:lnSpc>
              <a:spcBef>
                <a:spcPts val="0"/>
              </a:spcBef>
              <a:spcAft>
                <a:spcPts val="0"/>
              </a:spcAft>
              <a:buClr>
                <a:schemeClr val="accent5"/>
              </a:buClr>
              <a:buSzPts val="2400"/>
              <a:buFont typeface="Roboto Slab"/>
              <a:buNone/>
              <a:defRPr sz="3200">
                <a:solidFill>
                  <a:schemeClr val="accent5"/>
                </a:solidFill>
                <a:latin typeface="Roboto Slab"/>
                <a:ea typeface="Roboto Slab"/>
                <a:cs typeface="Roboto Slab"/>
                <a:sym typeface="Roboto Slab"/>
              </a:defRPr>
            </a:lvl6pPr>
            <a:lvl7pPr lvl="6" algn="ctr">
              <a:lnSpc>
                <a:spcPct val="100000"/>
              </a:lnSpc>
              <a:spcBef>
                <a:spcPts val="0"/>
              </a:spcBef>
              <a:spcAft>
                <a:spcPts val="0"/>
              </a:spcAft>
              <a:buClr>
                <a:schemeClr val="accent5"/>
              </a:buClr>
              <a:buSzPts val="2400"/>
              <a:buFont typeface="Roboto Slab"/>
              <a:buNone/>
              <a:defRPr sz="3200">
                <a:solidFill>
                  <a:schemeClr val="accent5"/>
                </a:solidFill>
                <a:latin typeface="Roboto Slab"/>
                <a:ea typeface="Roboto Slab"/>
                <a:cs typeface="Roboto Slab"/>
                <a:sym typeface="Roboto Slab"/>
              </a:defRPr>
            </a:lvl7pPr>
            <a:lvl8pPr lvl="7" algn="ctr">
              <a:lnSpc>
                <a:spcPct val="100000"/>
              </a:lnSpc>
              <a:spcBef>
                <a:spcPts val="0"/>
              </a:spcBef>
              <a:spcAft>
                <a:spcPts val="0"/>
              </a:spcAft>
              <a:buClr>
                <a:schemeClr val="accent5"/>
              </a:buClr>
              <a:buSzPts val="2400"/>
              <a:buFont typeface="Roboto Slab"/>
              <a:buNone/>
              <a:defRPr sz="3200">
                <a:solidFill>
                  <a:schemeClr val="accent5"/>
                </a:solidFill>
                <a:latin typeface="Roboto Slab"/>
                <a:ea typeface="Roboto Slab"/>
                <a:cs typeface="Roboto Slab"/>
                <a:sym typeface="Roboto Slab"/>
              </a:defRPr>
            </a:lvl8pPr>
            <a:lvl9pPr lvl="8" algn="ctr">
              <a:lnSpc>
                <a:spcPct val="100000"/>
              </a:lnSpc>
              <a:spcBef>
                <a:spcPts val="0"/>
              </a:spcBef>
              <a:spcAft>
                <a:spcPts val="0"/>
              </a:spcAft>
              <a:buClr>
                <a:schemeClr val="accent5"/>
              </a:buClr>
              <a:buSzPts val="2400"/>
              <a:buFont typeface="Roboto Slab"/>
              <a:buNone/>
              <a:defRPr sz="3200">
                <a:solidFill>
                  <a:schemeClr val="accent5"/>
                </a:solidFill>
                <a:latin typeface="Roboto Slab"/>
                <a:ea typeface="Roboto Slab"/>
                <a:cs typeface="Roboto Slab"/>
                <a:sym typeface="Roboto Slab"/>
              </a:defRPr>
            </a:lvl9pPr>
          </a:lstStyle>
          <a:p>
            <a:endParaRPr/>
          </a:p>
        </p:txBody>
      </p:sp>
      <p:sp>
        <p:nvSpPr>
          <p:cNvPr id="15" name="Google Shape;15;p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6"/>
        <p:cNvGrpSpPr/>
        <p:nvPr/>
      </p:nvGrpSpPr>
      <p:grpSpPr>
        <a:xfrm>
          <a:off x="0" y="0"/>
          <a:ext cx="0" cy="0"/>
          <a:chOff x="0" y="0"/>
          <a:chExt cx="0" cy="0"/>
        </a:xfrm>
      </p:grpSpPr>
      <p:cxnSp>
        <p:nvCxnSpPr>
          <p:cNvPr id="17" name="Google Shape;17;p3"/>
          <p:cNvCxnSpPr/>
          <p:nvPr/>
        </p:nvCxnSpPr>
        <p:spPr>
          <a:xfrm>
            <a:off x="5812803" y="3756619"/>
            <a:ext cx="566400" cy="0"/>
          </a:xfrm>
          <a:prstGeom prst="straightConnector1">
            <a:avLst/>
          </a:prstGeom>
          <a:noFill/>
          <a:ln w="38100" cap="flat" cmpd="sng">
            <a:solidFill>
              <a:schemeClr val="accent4"/>
            </a:solidFill>
            <a:prstDash val="solid"/>
            <a:round/>
            <a:headEnd type="none" w="sm" len="sm"/>
            <a:tailEnd type="none" w="sm" len="sm"/>
          </a:ln>
        </p:spPr>
      </p:cxnSp>
      <p:sp>
        <p:nvSpPr>
          <p:cNvPr id="18" name="Google Shape;18;p3"/>
          <p:cNvSpPr txBox="1">
            <a:spLocks noGrp="1"/>
          </p:cNvSpPr>
          <p:nvPr>
            <p:ph type="title"/>
          </p:nvPr>
        </p:nvSpPr>
        <p:spPr>
          <a:xfrm>
            <a:off x="641000" y="2353267"/>
            <a:ext cx="10962800" cy="1210000"/>
          </a:xfrm>
          <a:prstGeom prst="rect">
            <a:avLst/>
          </a:prstGeom>
        </p:spPr>
        <p:txBody>
          <a:bodyPr spcFirstLastPara="1" wrap="square" lIns="91425" tIns="91425" rIns="91425" bIns="91425" anchor="b" anchorCtr="0">
            <a:normAutofit/>
          </a:bodyPr>
          <a:lstStyle>
            <a:lvl1pPr lvl="0" algn="ctr">
              <a:spcBef>
                <a:spcPts val="0"/>
              </a:spcBef>
              <a:spcAft>
                <a:spcPts val="0"/>
              </a:spcAft>
              <a:buSzPts val="4800"/>
              <a:buNone/>
              <a:defRPr sz="6400"/>
            </a:lvl1pPr>
            <a:lvl2pPr lvl="1" algn="ctr">
              <a:spcBef>
                <a:spcPts val="0"/>
              </a:spcBef>
              <a:spcAft>
                <a:spcPts val="0"/>
              </a:spcAft>
              <a:buSzPts val="4800"/>
              <a:buNone/>
              <a:defRPr sz="6400"/>
            </a:lvl2pPr>
            <a:lvl3pPr lvl="2" algn="ctr">
              <a:spcBef>
                <a:spcPts val="0"/>
              </a:spcBef>
              <a:spcAft>
                <a:spcPts val="0"/>
              </a:spcAft>
              <a:buSzPts val="4800"/>
              <a:buNone/>
              <a:defRPr sz="6400"/>
            </a:lvl3pPr>
            <a:lvl4pPr lvl="3" algn="ctr">
              <a:spcBef>
                <a:spcPts val="0"/>
              </a:spcBef>
              <a:spcAft>
                <a:spcPts val="0"/>
              </a:spcAft>
              <a:buSzPts val="4800"/>
              <a:buNone/>
              <a:defRPr sz="6400"/>
            </a:lvl4pPr>
            <a:lvl5pPr lvl="4" algn="ctr">
              <a:spcBef>
                <a:spcPts val="0"/>
              </a:spcBef>
              <a:spcAft>
                <a:spcPts val="0"/>
              </a:spcAft>
              <a:buSzPts val="4800"/>
              <a:buNone/>
              <a:defRPr sz="6400"/>
            </a:lvl5pPr>
            <a:lvl6pPr lvl="5" algn="ctr">
              <a:spcBef>
                <a:spcPts val="0"/>
              </a:spcBef>
              <a:spcAft>
                <a:spcPts val="0"/>
              </a:spcAft>
              <a:buSzPts val="4800"/>
              <a:buNone/>
              <a:defRPr sz="6400"/>
            </a:lvl6pPr>
            <a:lvl7pPr lvl="6" algn="ctr">
              <a:spcBef>
                <a:spcPts val="0"/>
              </a:spcBef>
              <a:spcAft>
                <a:spcPts val="0"/>
              </a:spcAft>
              <a:buSzPts val="4800"/>
              <a:buNone/>
              <a:defRPr sz="6400"/>
            </a:lvl7pPr>
            <a:lvl8pPr lvl="7" algn="ctr">
              <a:spcBef>
                <a:spcPts val="0"/>
              </a:spcBef>
              <a:spcAft>
                <a:spcPts val="0"/>
              </a:spcAft>
              <a:buSzPts val="4800"/>
              <a:buNone/>
              <a:defRPr sz="6400"/>
            </a:lvl8pPr>
            <a:lvl9pPr lvl="8" algn="ctr">
              <a:spcBef>
                <a:spcPts val="0"/>
              </a:spcBef>
              <a:spcAft>
                <a:spcPts val="0"/>
              </a:spcAft>
              <a:buSzPts val="4800"/>
              <a:buNone/>
              <a:defRPr sz="6400"/>
            </a:lvl9pPr>
          </a:lstStyle>
          <a:p>
            <a:endParaRPr/>
          </a:p>
        </p:txBody>
      </p:sp>
      <p:sp>
        <p:nvSpPr>
          <p:cNvPr id="19" name="Google Shape;19;p3"/>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0"/>
        <p:cNvGrpSpPr/>
        <p:nvPr/>
      </p:nvGrpSpPr>
      <p:grpSpPr>
        <a:xfrm>
          <a:off x="0" y="0"/>
          <a:ext cx="0" cy="0"/>
          <a:chOff x="0" y="0"/>
          <a:chExt cx="0" cy="0"/>
        </a:xfrm>
      </p:grpSpPr>
      <p:cxnSp>
        <p:nvCxnSpPr>
          <p:cNvPr id="21" name="Google Shape;21;p4"/>
          <p:cNvCxnSpPr/>
          <p:nvPr/>
        </p:nvCxnSpPr>
        <p:spPr>
          <a:xfrm>
            <a:off x="656751" y="1680379"/>
            <a:ext cx="566400" cy="0"/>
          </a:xfrm>
          <a:prstGeom prst="straightConnector1">
            <a:avLst/>
          </a:prstGeom>
          <a:noFill/>
          <a:ln w="38100" cap="flat" cmpd="sng">
            <a:solidFill>
              <a:schemeClr val="accent4"/>
            </a:solidFill>
            <a:prstDash val="solid"/>
            <a:round/>
            <a:headEnd type="none" w="sm" len="sm"/>
            <a:tailEnd type="none" w="sm" len="sm"/>
          </a:ln>
        </p:spPr>
      </p:cxnSp>
      <p:sp>
        <p:nvSpPr>
          <p:cNvPr id="22" name="Google Shape;22;p4"/>
          <p:cNvSpPr txBox="1">
            <a:spLocks noGrp="1"/>
          </p:cNvSpPr>
          <p:nvPr>
            <p:ph type="title"/>
          </p:nvPr>
        </p:nvSpPr>
        <p:spPr>
          <a:xfrm>
            <a:off x="517200" y="610700"/>
            <a:ext cx="11157600" cy="914800"/>
          </a:xfrm>
          <a:prstGeom prst="rect">
            <a:avLst/>
          </a:prstGeom>
        </p:spPr>
        <p:txBody>
          <a:bodyPr spcFirstLastPara="1" wrap="square" lIns="91425" tIns="91425" rIns="91425" bIns="91425" anchor="b"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3" name="Google Shape;23;p4"/>
          <p:cNvSpPr txBox="1">
            <a:spLocks noGrp="1"/>
          </p:cNvSpPr>
          <p:nvPr>
            <p:ph type="body" idx="1"/>
          </p:nvPr>
        </p:nvSpPr>
        <p:spPr>
          <a:xfrm>
            <a:off x="517200" y="1986432"/>
            <a:ext cx="11157600" cy="41052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24" name="Google Shape;24;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5"/>
        <p:cNvGrpSpPr/>
        <p:nvPr/>
      </p:nvGrpSpPr>
      <p:grpSpPr>
        <a:xfrm>
          <a:off x="0" y="0"/>
          <a:ext cx="0" cy="0"/>
          <a:chOff x="0" y="0"/>
          <a:chExt cx="0" cy="0"/>
        </a:xfrm>
      </p:grpSpPr>
      <p:cxnSp>
        <p:nvCxnSpPr>
          <p:cNvPr id="26" name="Google Shape;26;p5"/>
          <p:cNvCxnSpPr/>
          <p:nvPr/>
        </p:nvCxnSpPr>
        <p:spPr>
          <a:xfrm>
            <a:off x="656751" y="1680379"/>
            <a:ext cx="566400" cy="0"/>
          </a:xfrm>
          <a:prstGeom prst="straightConnector1">
            <a:avLst/>
          </a:prstGeom>
          <a:noFill/>
          <a:ln w="38100" cap="flat" cmpd="sng">
            <a:solidFill>
              <a:schemeClr val="accent4"/>
            </a:solidFill>
            <a:prstDash val="solid"/>
            <a:round/>
            <a:headEnd type="none" w="sm" len="sm"/>
            <a:tailEnd type="none" w="sm" len="sm"/>
          </a:ln>
        </p:spPr>
      </p:cxnSp>
      <p:sp>
        <p:nvSpPr>
          <p:cNvPr id="27" name="Google Shape;27;p5"/>
          <p:cNvSpPr txBox="1">
            <a:spLocks noGrp="1"/>
          </p:cNvSpPr>
          <p:nvPr>
            <p:ph type="title"/>
          </p:nvPr>
        </p:nvSpPr>
        <p:spPr>
          <a:xfrm>
            <a:off x="517200" y="610700"/>
            <a:ext cx="11157600" cy="914800"/>
          </a:xfrm>
          <a:prstGeom prst="rect">
            <a:avLst/>
          </a:prstGeom>
        </p:spPr>
        <p:txBody>
          <a:bodyPr spcFirstLastPara="1" wrap="square" lIns="91425" tIns="91425" rIns="91425" bIns="91425" anchor="b"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8" name="Google Shape;28;p5"/>
          <p:cNvSpPr txBox="1">
            <a:spLocks noGrp="1"/>
          </p:cNvSpPr>
          <p:nvPr>
            <p:ph type="body" idx="1"/>
          </p:nvPr>
        </p:nvSpPr>
        <p:spPr>
          <a:xfrm>
            <a:off x="517200" y="1986433"/>
            <a:ext cx="5333200" cy="4105200"/>
          </a:xfrm>
          <a:prstGeom prst="rect">
            <a:avLst/>
          </a:prstGeom>
        </p:spPr>
        <p:txBody>
          <a:bodyPr spcFirstLastPara="1" wrap="square" lIns="91425" tIns="91425" rIns="91425" bIns="91425" anchor="t" anchorCtr="0">
            <a:normAutofit/>
          </a:bodyPr>
          <a:lstStyle>
            <a:lvl1pPr marL="609585" lvl="0" indent="-423323">
              <a:spcBef>
                <a:spcPts val="0"/>
              </a:spcBef>
              <a:spcAft>
                <a:spcPts val="0"/>
              </a:spcAft>
              <a:buSzPts val="1400"/>
              <a:buChar char="●"/>
              <a:defRPr sz="1867"/>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endParaRPr/>
          </a:p>
        </p:txBody>
      </p:sp>
      <p:sp>
        <p:nvSpPr>
          <p:cNvPr id="29" name="Google Shape;29;p5"/>
          <p:cNvSpPr txBox="1">
            <a:spLocks noGrp="1"/>
          </p:cNvSpPr>
          <p:nvPr>
            <p:ph type="body" idx="2"/>
          </p:nvPr>
        </p:nvSpPr>
        <p:spPr>
          <a:xfrm>
            <a:off x="6341600" y="1986433"/>
            <a:ext cx="5333200" cy="4105200"/>
          </a:xfrm>
          <a:prstGeom prst="rect">
            <a:avLst/>
          </a:prstGeom>
        </p:spPr>
        <p:txBody>
          <a:bodyPr spcFirstLastPara="1" wrap="square" lIns="91425" tIns="91425" rIns="91425" bIns="91425" anchor="t" anchorCtr="0">
            <a:normAutofit/>
          </a:bodyPr>
          <a:lstStyle>
            <a:lvl1pPr marL="609585" lvl="0" indent="-423323">
              <a:spcBef>
                <a:spcPts val="0"/>
              </a:spcBef>
              <a:spcAft>
                <a:spcPts val="0"/>
              </a:spcAft>
              <a:buSzPts val="1400"/>
              <a:buChar char="●"/>
              <a:defRPr sz="1867"/>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endParaRPr/>
          </a:p>
        </p:txBody>
      </p:sp>
      <p:sp>
        <p:nvSpPr>
          <p:cNvPr id="30" name="Google Shape;30;p5"/>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1"/>
        <p:cNvGrpSpPr/>
        <p:nvPr/>
      </p:nvGrpSpPr>
      <p:grpSpPr>
        <a:xfrm>
          <a:off x="0" y="0"/>
          <a:ext cx="0" cy="0"/>
          <a:chOff x="0" y="0"/>
          <a:chExt cx="0" cy="0"/>
        </a:xfrm>
      </p:grpSpPr>
      <p:sp>
        <p:nvSpPr>
          <p:cNvPr id="32" name="Google Shape;32;p6"/>
          <p:cNvSpPr txBox="1">
            <a:spLocks noGrp="1"/>
          </p:cNvSpPr>
          <p:nvPr>
            <p:ph type="title"/>
          </p:nvPr>
        </p:nvSpPr>
        <p:spPr>
          <a:xfrm>
            <a:off x="517200" y="610700"/>
            <a:ext cx="11157600" cy="914800"/>
          </a:xfrm>
          <a:prstGeom prst="rect">
            <a:avLst/>
          </a:prstGeom>
        </p:spPr>
        <p:txBody>
          <a:bodyPr spcFirstLastPara="1" wrap="square" lIns="91425" tIns="91425" rIns="91425" bIns="91425" anchor="b"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3" name="Google Shape;33;p6"/>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4"/>
        <p:cNvGrpSpPr/>
        <p:nvPr/>
      </p:nvGrpSpPr>
      <p:grpSpPr>
        <a:xfrm>
          <a:off x="0" y="0"/>
          <a:ext cx="0" cy="0"/>
          <a:chOff x="0" y="0"/>
          <a:chExt cx="0" cy="0"/>
        </a:xfrm>
      </p:grpSpPr>
      <p:cxnSp>
        <p:nvCxnSpPr>
          <p:cNvPr id="35" name="Google Shape;35;p7"/>
          <p:cNvCxnSpPr/>
          <p:nvPr/>
        </p:nvCxnSpPr>
        <p:spPr>
          <a:xfrm>
            <a:off x="652291" y="1883036"/>
            <a:ext cx="442000" cy="0"/>
          </a:xfrm>
          <a:prstGeom prst="straightConnector1">
            <a:avLst/>
          </a:prstGeom>
          <a:noFill/>
          <a:ln w="38100" cap="flat" cmpd="sng">
            <a:solidFill>
              <a:schemeClr val="accent4"/>
            </a:solidFill>
            <a:prstDash val="solid"/>
            <a:round/>
            <a:headEnd type="none" w="sm" len="sm"/>
            <a:tailEnd type="none" w="sm" len="sm"/>
          </a:ln>
        </p:spPr>
      </p:cxnSp>
      <p:sp>
        <p:nvSpPr>
          <p:cNvPr id="36" name="Google Shape;36;p7"/>
          <p:cNvSpPr txBox="1">
            <a:spLocks noGrp="1"/>
          </p:cNvSpPr>
          <p:nvPr>
            <p:ph type="title"/>
          </p:nvPr>
        </p:nvSpPr>
        <p:spPr>
          <a:xfrm>
            <a:off x="517200" y="740800"/>
            <a:ext cx="3744000" cy="10076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3200"/>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a:p>
        </p:txBody>
      </p:sp>
      <p:sp>
        <p:nvSpPr>
          <p:cNvPr id="37" name="Google Shape;37;p7"/>
          <p:cNvSpPr txBox="1">
            <a:spLocks noGrp="1"/>
          </p:cNvSpPr>
          <p:nvPr>
            <p:ph type="body" idx="1"/>
          </p:nvPr>
        </p:nvSpPr>
        <p:spPr>
          <a:xfrm>
            <a:off x="517200" y="2125367"/>
            <a:ext cx="3744000" cy="3574800"/>
          </a:xfrm>
          <a:prstGeom prst="rect">
            <a:avLst/>
          </a:prstGeom>
        </p:spPr>
        <p:txBody>
          <a:bodyPr spcFirstLastPara="1" wrap="square" lIns="91425" tIns="91425" rIns="91425" bIns="91425" anchor="t" anchorCtr="0">
            <a:normAutofit/>
          </a:bodyPr>
          <a:lstStyle>
            <a:lvl1pPr marL="609585" lvl="0" indent="-406390">
              <a:spcBef>
                <a:spcPts val="0"/>
              </a:spcBef>
              <a:spcAft>
                <a:spcPts val="0"/>
              </a:spcAft>
              <a:buSzPts val="1200"/>
              <a:buChar char="●"/>
              <a:defRPr sz="1600"/>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endParaRPr/>
          </a:p>
        </p:txBody>
      </p:sp>
      <p:sp>
        <p:nvSpPr>
          <p:cNvPr id="38" name="Google Shape;38;p7"/>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9"/>
        <p:cNvGrpSpPr/>
        <p:nvPr/>
      </p:nvGrpSpPr>
      <p:grpSpPr>
        <a:xfrm>
          <a:off x="0" y="0"/>
          <a:ext cx="0" cy="0"/>
          <a:chOff x="0" y="0"/>
          <a:chExt cx="0" cy="0"/>
        </a:xfrm>
      </p:grpSpPr>
      <p:sp>
        <p:nvSpPr>
          <p:cNvPr id="40" name="Google Shape;40;p8"/>
          <p:cNvSpPr txBox="1">
            <a:spLocks noGrp="1"/>
          </p:cNvSpPr>
          <p:nvPr>
            <p:ph type="title"/>
          </p:nvPr>
        </p:nvSpPr>
        <p:spPr>
          <a:xfrm>
            <a:off x="653667" y="701800"/>
            <a:ext cx="7491600" cy="54544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6400"/>
            </a:lvl1pPr>
            <a:lvl2pPr lvl="1">
              <a:spcBef>
                <a:spcPts val="0"/>
              </a:spcBef>
              <a:spcAft>
                <a:spcPts val="0"/>
              </a:spcAft>
              <a:buSzPts val="4800"/>
              <a:buNone/>
              <a:defRPr sz="6400"/>
            </a:lvl2pPr>
            <a:lvl3pPr lvl="2">
              <a:spcBef>
                <a:spcPts val="0"/>
              </a:spcBef>
              <a:spcAft>
                <a:spcPts val="0"/>
              </a:spcAft>
              <a:buSzPts val="4800"/>
              <a:buNone/>
              <a:defRPr sz="6400"/>
            </a:lvl3pPr>
            <a:lvl4pPr lvl="3">
              <a:spcBef>
                <a:spcPts val="0"/>
              </a:spcBef>
              <a:spcAft>
                <a:spcPts val="0"/>
              </a:spcAft>
              <a:buSzPts val="4800"/>
              <a:buNone/>
              <a:defRPr sz="6400"/>
            </a:lvl4pPr>
            <a:lvl5pPr lvl="4">
              <a:spcBef>
                <a:spcPts val="0"/>
              </a:spcBef>
              <a:spcAft>
                <a:spcPts val="0"/>
              </a:spcAft>
              <a:buSzPts val="4800"/>
              <a:buNone/>
              <a:defRPr sz="6400"/>
            </a:lvl5pPr>
            <a:lvl6pPr lvl="5">
              <a:spcBef>
                <a:spcPts val="0"/>
              </a:spcBef>
              <a:spcAft>
                <a:spcPts val="0"/>
              </a:spcAft>
              <a:buSzPts val="4800"/>
              <a:buNone/>
              <a:defRPr sz="6400"/>
            </a:lvl6pPr>
            <a:lvl7pPr lvl="6">
              <a:spcBef>
                <a:spcPts val="0"/>
              </a:spcBef>
              <a:spcAft>
                <a:spcPts val="0"/>
              </a:spcAft>
              <a:buSzPts val="4800"/>
              <a:buNone/>
              <a:defRPr sz="6400"/>
            </a:lvl7pPr>
            <a:lvl8pPr lvl="7">
              <a:spcBef>
                <a:spcPts val="0"/>
              </a:spcBef>
              <a:spcAft>
                <a:spcPts val="0"/>
              </a:spcAft>
              <a:buSzPts val="4800"/>
              <a:buNone/>
              <a:defRPr sz="6400"/>
            </a:lvl8pPr>
            <a:lvl9pPr lvl="8">
              <a:spcBef>
                <a:spcPts val="0"/>
              </a:spcBef>
              <a:spcAft>
                <a:spcPts val="0"/>
              </a:spcAft>
              <a:buSzPts val="4800"/>
              <a:buNone/>
              <a:defRPr sz="6400"/>
            </a:lvl9pPr>
          </a:lstStyle>
          <a:p>
            <a:endParaRPr/>
          </a:p>
        </p:txBody>
      </p:sp>
      <p:sp>
        <p:nvSpPr>
          <p:cNvPr id="41" name="Google Shape;41;p8"/>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2"/>
        <p:cNvGrpSpPr/>
        <p:nvPr/>
      </p:nvGrpSpPr>
      <p:grpSpPr>
        <a:xfrm>
          <a:off x="0" y="0"/>
          <a:ext cx="0" cy="0"/>
          <a:chOff x="0" y="0"/>
          <a:chExt cx="0" cy="0"/>
        </a:xfrm>
      </p:grpSpPr>
      <p:sp>
        <p:nvSpPr>
          <p:cNvPr id="43" name="Google Shape;43;p9"/>
          <p:cNvSpPr/>
          <p:nvPr/>
        </p:nvSpPr>
        <p:spPr>
          <a:xfrm>
            <a:off x="6096000" y="-100"/>
            <a:ext cx="6096000" cy="68580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533"/>
          </a:p>
        </p:txBody>
      </p:sp>
      <p:cxnSp>
        <p:nvCxnSpPr>
          <p:cNvPr id="44" name="Google Shape;44;p9"/>
          <p:cNvCxnSpPr/>
          <p:nvPr/>
        </p:nvCxnSpPr>
        <p:spPr>
          <a:xfrm>
            <a:off x="6706233" y="5994004"/>
            <a:ext cx="721200" cy="0"/>
          </a:xfrm>
          <a:prstGeom prst="straightConnector1">
            <a:avLst/>
          </a:prstGeom>
          <a:noFill/>
          <a:ln w="38100" cap="flat" cmpd="sng">
            <a:solidFill>
              <a:schemeClr val="accent5"/>
            </a:solidFill>
            <a:prstDash val="solid"/>
            <a:round/>
            <a:headEnd type="none" w="sm" len="sm"/>
            <a:tailEnd type="none" w="sm" len="sm"/>
          </a:ln>
        </p:spPr>
      </p:cxnSp>
      <p:sp>
        <p:nvSpPr>
          <p:cNvPr id="45" name="Google Shape;45;p9"/>
          <p:cNvSpPr txBox="1">
            <a:spLocks noGrp="1"/>
          </p:cNvSpPr>
          <p:nvPr>
            <p:ph type="title"/>
          </p:nvPr>
        </p:nvSpPr>
        <p:spPr>
          <a:xfrm>
            <a:off x="354000" y="1612100"/>
            <a:ext cx="5393600" cy="2008400"/>
          </a:xfrm>
          <a:prstGeom prst="rect">
            <a:avLst/>
          </a:prstGeom>
        </p:spPr>
        <p:txBody>
          <a:bodyPr spcFirstLastPara="1" wrap="square" lIns="91425" tIns="91425" rIns="91425" bIns="91425" anchor="b" anchorCtr="0">
            <a:normAutofit/>
          </a:bodyPr>
          <a:lstStyle>
            <a:lvl1pPr lvl="0" algn="ctr">
              <a:spcBef>
                <a:spcPts val="0"/>
              </a:spcBef>
              <a:spcAft>
                <a:spcPts val="0"/>
              </a:spcAft>
              <a:buSzPts val="3800"/>
              <a:buNone/>
              <a:defRPr sz="5067"/>
            </a:lvl1pPr>
            <a:lvl2pPr lvl="1" algn="ctr">
              <a:spcBef>
                <a:spcPts val="0"/>
              </a:spcBef>
              <a:spcAft>
                <a:spcPts val="0"/>
              </a:spcAft>
              <a:buSzPts val="3800"/>
              <a:buNone/>
              <a:defRPr sz="5067"/>
            </a:lvl2pPr>
            <a:lvl3pPr lvl="2" algn="ctr">
              <a:spcBef>
                <a:spcPts val="0"/>
              </a:spcBef>
              <a:spcAft>
                <a:spcPts val="0"/>
              </a:spcAft>
              <a:buSzPts val="3800"/>
              <a:buNone/>
              <a:defRPr sz="5067"/>
            </a:lvl3pPr>
            <a:lvl4pPr lvl="3" algn="ctr">
              <a:spcBef>
                <a:spcPts val="0"/>
              </a:spcBef>
              <a:spcAft>
                <a:spcPts val="0"/>
              </a:spcAft>
              <a:buSzPts val="3800"/>
              <a:buNone/>
              <a:defRPr sz="5067"/>
            </a:lvl4pPr>
            <a:lvl5pPr lvl="4" algn="ctr">
              <a:spcBef>
                <a:spcPts val="0"/>
              </a:spcBef>
              <a:spcAft>
                <a:spcPts val="0"/>
              </a:spcAft>
              <a:buSzPts val="3800"/>
              <a:buNone/>
              <a:defRPr sz="5067"/>
            </a:lvl5pPr>
            <a:lvl6pPr lvl="5" algn="ctr">
              <a:spcBef>
                <a:spcPts val="0"/>
              </a:spcBef>
              <a:spcAft>
                <a:spcPts val="0"/>
              </a:spcAft>
              <a:buSzPts val="3800"/>
              <a:buNone/>
              <a:defRPr sz="5067"/>
            </a:lvl6pPr>
            <a:lvl7pPr lvl="6" algn="ctr">
              <a:spcBef>
                <a:spcPts val="0"/>
              </a:spcBef>
              <a:spcAft>
                <a:spcPts val="0"/>
              </a:spcAft>
              <a:buSzPts val="3800"/>
              <a:buNone/>
              <a:defRPr sz="5067"/>
            </a:lvl7pPr>
            <a:lvl8pPr lvl="7" algn="ctr">
              <a:spcBef>
                <a:spcPts val="0"/>
              </a:spcBef>
              <a:spcAft>
                <a:spcPts val="0"/>
              </a:spcAft>
              <a:buSzPts val="3800"/>
              <a:buNone/>
              <a:defRPr sz="5067"/>
            </a:lvl8pPr>
            <a:lvl9pPr lvl="8" algn="ctr">
              <a:spcBef>
                <a:spcPts val="0"/>
              </a:spcBef>
              <a:spcAft>
                <a:spcPts val="0"/>
              </a:spcAft>
              <a:buSzPts val="3800"/>
              <a:buNone/>
              <a:defRPr sz="5067"/>
            </a:lvl9pPr>
          </a:lstStyle>
          <a:p>
            <a:endParaRPr/>
          </a:p>
        </p:txBody>
      </p:sp>
      <p:sp>
        <p:nvSpPr>
          <p:cNvPr id="46" name="Google Shape;46;p9"/>
          <p:cNvSpPr txBox="1">
            <a:spLocks noGrp="1"/>
          </p:cNvSpPr>
          <p:nvPr>
            <p:ph type="subTitle" idx="1"/>
          </p:nvPr>
        </p:nvSpPr>
        <p:spPr>
          <a:xfrm>
            <a:off x="354000" y="3692001"/>
            <a:ext cx="5393600" cy="17940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accent5"/>
              </a:buClr>
              <a:buSzPts val="2100"/>
              <a:buNone/>
              <a:defRPr sz="2800">
                <a:solidFill>
                  <a:schemeClr val="accent5"/>
                </a:solidFill>
              </a:defRPr>
            </a:lvl1pPr>
            <a:lvl2pPr lvl="1" algn="ctr">
              <a:lnSpc>
                <a:spcPct val="100000"/>
              </a:lnSpc>
              <a:spcBef>
                <a:spcPts val="0"/>
              </a:spcBef>
              <a:spcAft>
                <a:spcPts val="0"/>
              </a:spcAft>
              <a:buClr>
                <a:schemeClr val="accent5"/>
              </a:buClr>
              <a:buSzPts val="2100"/>
              <a:buNone/>
              <a:defRPr sz="2800">
                <a:solidFill>
                  <a:schemeClr val="accent5"/>
                </a:solidFill>
              </a:defRPr>
            </a:lvl2pPr>
            <a:lvl3pPr lvl="2" algn="ctr">
              <a:lnSpc>
                <a:spcPct val="100000"/>
              </a:lnSpc>
              <a:spcBef>
                <a:spcPts val="0"/>
              </a:spcBef>
              <a:spcAft>
                <a:spcPts val="0"/>
              </a:spcAft>
              <a:buClr>
                <a:schemeClr val="accent5"/>
              </a:buClr>
              <a:buSzPts val="2100"/>
              <a:buNone/>
              <a:defRPr sz="2800">
                <a:solidFill>
                  <a:schemeClr val="accent5"/>
                </a:solidFill>
              </a:defRPr>
            </a:lvl3pPr>
            <a:lvl4pPr lvl="3" algn="ctr">
              <a:lnSpc>
                <a:spcPct val="100000"/>
              </a:lnSpc>
              <a:spcBef>
                <a:spcPts val="0"/>
              </a:spcBef>
              <a:spcAft>
                <a:spcPts val="0"/>
              </a:spcAft>
              <a:buClr>
                <a:schemeClr val="accent5"/>
              </a:buClr>
              <a:buSzPts val="2100"/>
              <a:buNone/>
              <a:defRPr sz="2800">
                <a:solidFill>
                  <a:schemeClr val="accent5"/>
                </a:solidFill>
              </a:defRPr>
            </a:lvl4pPr>
            <a:lvl5pPr lvl="4" algn="ctr">
              <a:lnSpc>
                <a:spcPct val="100000"/>
              </a:lnSpc>
              <a:spcBef>
                <a:spcPts val="0"/>
              </a:spcBef>
              <a:spcAft>
                <a:spcPts val="0"/>
              </a:spcAft>
              <a:buClr>
                <a:schemeClr val="accent5"/>
              </a:buClr>
              <a:buSzPts val="2100"/>
              <a:buNone/>
              <a:defRPr sz="2800">
                <a:solidFill>
                  <a:schemeClr val="accent5"/>
                </a:solidFill>
              </a:defRPr>
            </a:lvl5pPr>
            <a:lvl6pPr lvl="5" algn="ctr">
              <a:lnSpc>
                <a:spcPct val="100000"/>
              </a:lnSpc>
              <a:spcBef>
                <a:spcPts val="0"/>
              </a:spcBef>
              <a:spcAft>
                <a:spcPts val="0"/>
              </a:spcAft>
              <a:buClr>
                <a:schemeClr val="accent5"/>
              </a:buClr>
              <a:buSzPts val="2100"/>
              <a:buNone/>
              <a:defRPr sz="2800">
                <a:solidFill>
                  <a:schemeClr val="accent5"/>
                </a:solidFill>
              </a:defRPr>
            </a:lvl6pPr>
            <a:lvl7pPr lvl="6" algn="ctr">
              <a:lnSpc>
                <a:spcPct val="100000"/>
              </a:lnSpc>
              <a:spcBef>
                <a:spcPts val="0"/>
              </a:spcBef>
              <a:spcAft>
                <a:spcPts val="0"/>
              </a:spcAft>
              <a:buClr>
                <a:schemeClr val="accent5"/>
              </a:buClr>
              <a:buSzPts val="2100"/>
              <a:buNone/>
              <a:defRPr sz="2800">
                <a:solidFill>
                  <a:schemeClr val="accent5"/>
                </a:solidFill>
              </a:defRPr>
            </a:lvl7pPr>
            <a:lvl8pPr lvl="7" algn="ctr">
              <a:lnSpc>
                <a:spcPct val="100000"/>
              </a:lnSpc>
              <a:spcBef>
                <a:spcPts val="0"/>
              </a:spcBef>
              <a:spcAft>
                <a:spcPts val="0"/>
              </a:spcAft>
              <a:buClr>
                <a:schemeClr val="accent5"/>
              </a:buClr>
              <a:buSzPts val="2100"/>
              <a:buNone/>
              <a:defRPr sz="2800">
                <a:solidFill>
                  <a:schemeClr val="accent5"/>
                </a:solidFill>
              </a:defRPr>
            </a:lvl8pPr>
            <a:lvl9pPr lvl="8" algn="ctr">
              <a:lnSpc>
                <a:spcPct val="100000"/>
              </a:lnSpc>
              <a:spcBef>
                <a:spcPts val="0"/>
              </a:spcBef>
              <a:spcAft>
                <a:spcPts val="0"/>
              </a:spcAft>
              <a:buClr>
                <a:schemeClr val="accent5"/>
              </a:buClr>
              <a:buSzPts val="2100"/>
              <a:buNone/>
              <a:defRPr sz="2800">
                <a:solidFill>
                  <a:schemeClr val="accent5"/>
                </a:solidFill>
              </a:defRPr>
            </a:lvl9pPr>
          </a:lstStyle>
          <a:p>
            <a:endParaRPr/>
          </a:p>
        </p:txBody>
      </p:sp>
      <p:sp>
        <p:nvSpPr>
          <p:cNvPr id="47" name="Google Shape;47;p9"/>
          <p:cNvSpPr txBox="1">
            <a:spLocks noGrp="1"/>
          </p:cNvSpPr>
          <p:nvPr>
            <p:ph type="body" idx="2"/>
          </p:nvPr>
        </p:nvSpPr>
        <p:spPr>
          <a:xfrm>
            <a:off x="6586000" y="965600"/>
            <a:ext cx="5116000" cy="4926800"/>
          </a:xfrm>
          <a:prstGeom prst="rect">
            <a:avLst/>
          </a:prstGeom>
        </p:spPr>
        <p:txBody>
          <a:bodyPr spcFirstLastPara="1" wrap="square" lIns="91425" tIns="91425" rIns="91425" bIns="91425" anchor="ctr"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48" name="Google Shape;48;p9"/>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9"/>
        <p:cNvGrpSpPr/>
        <p:nvPr/>
      </p:nvGrpSpPr>
      <p:grpSpPr>
        <a:xfrm>
          <a:off x="0" y="0"/>
          <a:ext cx="0" cy="0"/>
          <a:chOff x="0" y="0"/>
          <a:chExt cx="0" cy="0"/>
        </a:xfrm>
      </p:grpSpPr>
      <p:sp>
        <p:nvSpPr>
          <p:cNvPr id="50" name="Google Shape;50;p10"/>
          <p:cNvSpPr txBox="1">
            <a:spLocks noGrp="1"/>
          </p:cNvSpPr>
          <p:nvPr>
            <p:ph type="body" idx="1"/>
          </p:nvPr>
        </p:nvSpPr>
        <p:spPr>
          <a:xfrm>
            <a:off x="426000" y="5644967"/>
            <a:ext cx="7998400" cy="798400"/>
          </a:xfrm>
          <a:prstGeom prst="rect">
            <a:avLst/>
          </a:prstGeom>
        </p:spPr>
        <p:txBody>
          <a:bodyPr spcFirstLastPara="1" wrap="square" lIns="91425" tIns="91425" rIns="91425" bIns="91425" anchor="ctr" anchorCtr="0">
            <a:normAutofit/>
          </a:bodyPr>
          <a:lstStyle>
            <a:lvl1pPr marL="609585" lvl="0" indent="-304792">
              <a:lnSpc>
                <a:spcPct val="100000"/>
              </a:lnSpc>
              <a:spcBef>
                <a:spcPts val="0"/>
              </a:spcBef>
              <a:spcAft>
                <a:spcPts val="0"/>
              </a:spcAft>
              <a:buSzPts val="1800"/>
              <a:buFont typeface="Roboto Slab"/>
              <a:buNone/>
              <a:defRPr>
                <a:latin typeface="Roboto Slab"/>
                <a:ea typeface="Roboto Slab"/>
                <a:cs typeface="Roboto Slab"/>
                <a:sym typeface="Roboto Slab"/>
              </a:defRPr>
            </a:lvl1pPr>
          </a:lstStyle>
          <a:p>
            <a:endParaRPr/>
          </a:p>
        </p:txBody>
      </p:sp>
      <p:sp>
        <p:nvSpPr>
          <p:cNvPr id="51" name="Google Shape;51;p10"/>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2"/>
        <p:cNvGrpSpPr/>
        <p:nvPr/>
      </p:nvGrpSpPr>
      <p:grpSpPr>
        <a:xfrm>
          <a:off x="0" y="0"/>
          <a:ext cx="0" cy="0"/>
          <a:chOff x="0" y="0"/>
          <a:chExt cx="0" cy="0"/>
        </a:xfrm>
      </p:grpSpPr>
      <p:sp>
        <p:nvSpPr>
          <p:cNvPr id="53" name="Google Shape;53;p11"/>
          <p:cNvSpPr/>
          <p:nvPr/>
        </p:nvSpPr>
        <p:spPr>
          <a:xfrm>
            <a:off x="200" y="6769100"/>
            <a:ext cx="12191600" cy="88800"/>
          </a:xfrm>
          <a:prstGeom prst="rect">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533"/>
          </a:p>
        </p:txBody>
      </p:sp>
      <p:sp>
        <p:nvSpPr>
          <p:cNvPr id="54" name="Google Shape;54;p11"/>
          <p:cNvSpPr txBox="1">
            <a:spLocks noGrp="1"/>
          </p:cNvSpPr>
          <p:nvPr>
            <p:ph type="title" hasCustomPrompt="1"/>
          </p:nvPr>
        </p:nvSpPr>
        <p:spPr>
          <a:xfrm>
            <a:off x="517200" y="1536600"/>
            <a:ext cx="11157600" cy="20512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accent5"/>
              </a:buClr>
              <a:buSzPts val="13000"/>
              <a:buNone/>
              <a:defRPr sz="17333">
                <a:solidFill>
                  <a:schemeClr val="accent5"/>
                </a:solidFill>
              </a:defRPr>
            </a:lvl1pPr>
            <a:lvl2pPr lvl="1" algn="ctr">
              <a:spcBef>
                <a:spcPts val="0"/>
              </a:spcBef>
              <a:spcAft>
                <a:spcPts val="0"/>
              </a:spcAft>
              <a:buClr>
                <a:schemeClr val="accent5"/>
              </a:buClr>
              <a:buSzPts val="13000"/>
              <a:buNone/>
              <a:defRPr sz="17333">
                <a:solidFill>
                  <a:schemeClr val="accent5"/>
                </a:solidFill>
              </a:defRPr>
            </a:lvl2pPr>
            <a:lvl3pPr lvl="2" algn="ctr">
              <a:spcBef>
                <a:spcPts val="0"/>
              </a:spcBef>
              <a:spcAft>
                <a:spcPts val="0"/>
              </a:spcAft>
              <a:buClr>
                <a:schemeClr val="accent5"/>
              </a:buClr>
              <a:buSzPts val="13000"/>
              <a:buNone/>
              <a:defRPr sz="17333">
                <a:solidFill>
                  <a:schemeClr val="accent5"/>
                </a:solidFill>
              </a:defRPr>
            </a:lvl3pPr>
            <a:lvl4pPr lvl="3" algn="ctr">
              <a:spcBef>
                <a:spcPts val="0"/>
              </a:spcBef>
              <a:spcAft>
                <a:spcPts val="0"/>
              </a:spcAft>
              <a:buClr>
                <a:schemeClr val="accent5"/>
              </a:buClr>
              <a:buSzPts val="13000"/>
              <a:buNone/>
              <a:defRPr sz="17333">
                <a:solidFill>
                  <a:schemeClr val="accent5"/>
                </a:solidFill>
              </a:defRPr>
            </a:lvl4pPr>
            <a:lvl5pPr lvl="4" algn="ctr">
              <a:spcBef>
                <a:spcPts val="0"/>
              </a:spcBef>
              <a:spcAft>
                <a:spcPts val="0"/>
              </a:spcAft>
              <a:buClr>
                <a:schemeClr val="accent5"/>
              </a:buClr>
              <a:buSzPts val="13000"/>
              <a:buNone/>
              <a:defRPr sz="17333">
                <a:solidFill>
                  <a:schemeClr val="accent5"/>
                </a:solidFill>
              </a:defRPr>
            </a:lvl5pPr>
            <a:lvl6pPr lvl="5" algn="ctr">
              <a:spcBef>
                <a:spcPts val="0"/>
              </a:spcBef>
              <a:spcAft>
                <a:spcPts val="0"/>
              </a:spcAft>
              <a:buClr>
                <a:schemeClr val="accent5"/>
              </a:buClr>
              <a:buSzPts val="13000"/>
              <a:buNone/>
              <a:defRPr sz="17333">
                <a:solidFill>
                  <a:schemeClr val="accent5"/>
                </a:solidFill>
              </a:defRPr>
            </a:lvl6pPr>
            <a:lvl7pPr lvl="6" algn="ctr">
              <a:spcBef>
                <a:spcPts val="0"/>
              </a:spcBef>
              <a:spcAft>
                <a:spcPts val="0"/>
              </a:spcAft>
              <a:buClr>
                <a:schemeClr val="accent5"/>
              </a:buClr>
              <a:buSzPts val="13000"/>
              <a:buNone/>
              <a:defRPr sz="17333">
                <a:solidFill>
                  <a:schemeClr val="accent5"/>
                </a:solidFill>
              </a:defRPr>
            </a:lvl7pPr>
            <a:lvl8pPr lvl="7" algn="ctr">
              <a:spcBef>
                <a:spcPts val="0"/>
              </a:spcBef>
              <a:spcAft>
                <a:spcPts val="0"/>
              </a:spcAft>
              <a:buClr>
                <a:schemeClr val="accent5"/>
              </a:buClr>
              <a:buSzPts val="13000"/>
              <a:buNone/>
              <a:defRPr sz="17333">
                <a:solidFill>
                  <a:schemeClr val="accent5"/>
                </a:solidFill>
              </a:defRPr>
            </a:lvl8pPr>
            <a:lvl9pPr lvl="8" algn="ctr">
              <a:spcBef>
                <a:spcPts val="0"/>
              </a:spcBef>
              <a:spcAft>
                <a:spcPts val="0"/>
              </a:spcAft>
              <a:buClr>
                <a:schemeClr val="accent5"/>
              </a:buClr>
              <a:buSzPts val="13000"/>
              <a:buNone/>
              <a:defRPr sz="17333">
                <a:solidFill>
                  <a:schemeClr val="accent5"/>
                </a:solidFill>
              </a:defRPr>
            </a:lvl9pPr>
          </a:lstStyle>
          <a:p>
            <a:r>
              <a:t>xx%</a:t>
            </a:r>
          </a:p>
        </p:txBody>
      </p:sp>
      <p:sp>
        <p:nvSpPr>
          <p:cNvPr id="55" name="Google Shape;55;p11"/>
          <p:cNvSpPr txBox="1">
            <a:spLocks noGrp="1"/>
          </p:cNvSpPr>
          <p:nvPr>
            <p:ph type="body" idx="1"/>
          </p:nvPr>
        </p:nvSpPr>
        <p:spPr>
          <a:xfrm>
            <a:off x="517200" y="3892600"/>
            <a:ext cx="11157600" cy="1428800"/>
          </a:xfrm>
          <a:prstGeom prst="rect">
            <a:avLst/>
          </a:prstGeom>
        </p:spPr>
        <p:txBody>
          <a:bodyPr spcFirstLastPara="1" wrap="square" lIns="91425" tIns="91425" rIns="91425" bIns="91425" anchor="t" anchorCtr="0">
            <a:normAutofit/>
          </a:bodyPr>
          <a:lstStyle>
            <a:lvl1pPr marL="609585" lvl="0" indent="-457189" algn="ctr">
              <a:spcBef>
                <a:spcPts val="0"/>
              </a:spcBef>
              <a:spcAft>
                <a:spcPts val="0"/>
              </a:spcAft>
              <a:buSzPts val="1800"/>
              <a:buChar char="●"/>
              <a:defRPr/>
            </a:lvl1pPr>
            <a:lvl2pPr marL="1219170" lvl="1" indent="-423323" algn="ctr">
              <a:spcBef>
                <a:spcPts val="0"/>
              </a:spcBef>
              <a:spcAft>
                <a:spcPts val="0"/>
              </a:spcAft>
              <a:buSzPts val="1400"/>
              <a:buChar char="○"/>
              <a:defRPr/>
            </a:lvl2pPr>
            <a:lvl3pPr marL="1828754" lvl="2" indent="-423323" algn="ctr">
              <a:spcBef>
                <a:spcPts val="0"/>
              </a:spcBef>
              <a:spcAft>
                <a:spcPts val="0"/>
              </a:spcAft>
              <a:buSzPts val="1400"/>
              <a:buChar char="■"/>
              <a:defRPr/>
            </a:lvl3pPr>
            <a:lvl4pPr marL="2438339" lvl="3" indent="-423323" algn="ctr">
              <a:spcBef>
                <a:spcPts val="0"/>
              </a:spcBef>
              <a:spcAft>
                <a:spcPts val="0"/>
              </a:spcAft>
              <a:buSzPts val="1400"/>
              <a:buChar char="●"/>
              <a:defRPr/>
            </a:lvl4pPr>
            <a:lvl5pPr marL="3047924" lvl="4" indent="-423323" algn="ctr">
              <a:spcBef>
                <a:spcPts val="0"/>
              </a:spcBef>
              <a:spcAft>
                <a:spcPts val="0"/>
              </a:spcAft>
              <a:buSzPts val="1400"/>
              <a:buChar char="○"/>
              <a:defRPr/>
            </a:lvl5pPr>
            <a:lvl6pPr marL="3657509" lvl="5" indent="-423323" algn="ctr">
              <a:spcBef>
                <a:spcPts val="0"/>
              </a:spcBef>
              <a:spcAft>
                <a:spcPts val="0"/>
              </a:spcAft>
              <a:buSzPts val="1400"/>
              <a:buChar char="■"/>
              <a:defRPr/>
            </a:lvl6pPr>
            <a:lvl7pPr marL="4267093" lvl="6" indent="-423323" algn="ctr">
              <a:spcBef>
                <a:spcPts val="0"/>
              </a:spcBef>
              <a:spcAft>
                <a:spcPts val="0"/>
              </a:spcAft>
              <a:buSzPts val="1400"/>
              <a:buChar char="●"/>
              <a:defRPr/>
            </a:lvl7pPr>
            <a:lvl8pPr marL="4876678" lvl="7" indent="-423323" algn="ctr">
              <a:spcBef>
                <a:spcPts val="0"/>
              </a:spcBef>
              <a:spcAft>
                <a:spcPts val="0"/>
              </a:spcAft>
              <a:buSzPts val="1400"/>
              <a:buChar char="○"/>
              <a:defRPr/>
            </a:lvl8pPr>
            <a:lvl9pPr marL="5486263" lvl="8" indent="-423323" algn="ctr">
              <a:spcBef>
                <a:spcPts val="0"/>
              </a:spcBef>
              <a:spcAft>
                <a:spcPts val="0"/>
              </a:spcAft>
              <a:buSzPts val="1400"/>
              <a:buChar char="■"/>
              <a:defRPr/>
            </a:lvl9pPr>
          </a:lstStyle>
          <a:p>
            <a:endParaRPr/>
          </a:p>
        </p:txBody>
      </p:sp>
      <p:sp>
        <p:nvSpPr>
          <p:cNvPr id="56" name="Google Shape;56;p11"/>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7"/>
        <p:cNvGrpSpPr/>
        <p:nvPr/>
      </p:nvGrpSpPr>
      <p:grpSpPr>
        <a:xfrm>
          <a:off x="0" y="0"/>
          <a:ext cx="0" cy="0"/>
          <a:chOff x="0" y="0"/>
          <a:chExt cx="0" cy="0"/>
        </a:xfrm>
      </p:grpSpPr>
      <p:sp>
        <p:nvSpPr>
          <p:cNvPr id="58" name="Google Shape;58;p1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theme" Target="../theme/theme2.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125730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76450"/>
            <a:ext cx="10353762" cy="3714749"/>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6000749"/>
            <a:ext cx="2743200"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073ED0CC-082F-4160-86E5-0D6041F12778}" type="datetime1">
              <a:rPr lang="en-US" smtClean="0"/>
              <a:t>12/20/2022</a:t>
            </a:fld>
            <a:endParaRPr lang="en-US" dirty="0"/>
          </a:p>
        </p:txBody>
      </p:sp>
      <p:sp>
        <p:nvSpPr>
          <p:cNvPr id="5" name="Footer Placeholder 4"/>
          <p:cNvSpPr>
            <a:spLocks noGrp="1"/>
          </p:cNvSpPr>
          <p:nvPr>
            <p:ph type="ftr" sz="quarter" idx="3"/>
          </p:nvPr>
        </p:nvSpPr>
        <p:spPr>
          <a:xfrm>
            <a:off x="913795" y="6000749"/>
            <a:ext cx="6672865" cy="365125"/>
          </a:xfrm>
          <a:prstGeom prst="rect">
            <a:avLst/>
          </a:prstGeom>
        </p:spPr>
        <p:txBody>
          <a:bodyPr vert="horz" lIns="91440" tIns="45720" rIns="91440" bIns="45720" rtlCol="0" anchor="ctr"/>
          <a:lstStyle>
            <a:lvl1pPr algn="l">
              <a:defRPr sz="1100">
                <a:solidFill>
                  <a:schemeClr val="tx1">
                    <a:lumMod val="95000"/>
                  </a:schemeClr>
                </a:solidFill>
                <a:effectLst>
                  <a:outerShdw blurRad="50800" dist="38100" dir="2700000" algn="tl" rotWithShape="0">
                    <a:schemeClr val="bg1">
                      <a:alpha val="43000"/>
                    </a:schemeClr>
                  </a:outerShdw>
                </a:effectLst>
              </a:defRPr>
            </a:lvl1pPr>
          </a:lstStyle>
          <a:p>
            <a:endParaRPr lang="en-US" dirty="0"/>
          </a:p>
        </p:txBody>
      </p:sp>
      <p:sp>
        <p:nvSpPr>
          <p:cNvPr id="6" name="Slide Number Placeholder 5"/>
          <p:cNvSpPr>
            <a:spLocks noGrp="1"/>
          </p:cNvSpPr>
          <p:nvPr>
            <p:ph type="sldNum" sz="quarter" idx="4"/>
          </p:nvPr>
        </p:nvSpPr>
        <p:spPr>
          <a:xfrm>
            <a:off x="10514011" y="6000749"/>
            <a:ext cx="753545"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3376486198"/>
      </p:ext>
    </p:extLst>
  </p:cSld>
  <p:clrMap bg1="dk1" tx1="lt1" bg2="dk2" tx2="lt2" accent1="accent1" accent2="accent2" accent3="accent3" accent4="accent4" accent5="accent5" accent6="accent6" hlink="hlink" folHlink="folHlink"/>
  <p:sldLayoutIdLst>
    <p:sldLayoutId id="2147483689" r:id="rId1"/>
    <p:sldLayoutId id="2147483688" r:id="rId2"/>
    <p:sldLayoutId id="2147483687" r:id="rId3"/>
    <p:sldLayoutId id="2147483686" r:id="rId4"/>
    <p:sldLayoutId id="2147483685" r:id="rId5"/>
    <p:sldLayoutId id="2147483684" r:id="rId6"/>
    <p:sldLayoutId id="2147483683" r:id="rId7"/>
    <p:sldLayoutId id="2147483682" r:id="rId8"/>
    <p:sldLayoutId id="2147483681" r:id="rId9"/>
    <p:sldLayoutId id="2147483680" r:id="rId10"/>
    <p:sldLayoutId id="2147483673" r:id="rId11"/>
    <p:sldLayoutId id="2147483674" r:id="rId12"/>
    <p:sldLayoutId id="2147483675" r:id="rId13"/>
    <p:sldLayoutId id="2147483676" r:id="rId14"/>
    <p:sldLayoutId id="2147483677" r:id="rId15"/>
    <p:sldLayoutId id="2147483678" r:id="rId16"/>
    <p:sldLayoutId id="2147483679" r:id="rId17"/>
  </p:sldLayoutIdLst>
  <p:hf sldNum="0" hdr="0" ftr="0" dt="0"/>
  <p:txStyles>
    <p:titleStyle>
      <a:lvl1pPr algn="ctr" defTabSz="457200" rtl="0" eaLnBrk="1" latinLnBrk="0" hangingPunct="1">
        <a:lnSpc>
          <a:spcPct val="90000"/>
        </a:lnSpc>
        <a:spcBef>
          <a:spcPct val="0"/>
        </a:spcBef>
        <a:buNone/>
        <a:defRPr sz="4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3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lnSpc>
          <a:spcPct val="110000"/>
        </a:lnSpc>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lnSpc>
          <a:spcPct val="110000"/>
        </a:lnSpc>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lnSpc>
          <a:spcPct val="110000"/>
        </a:lnSpc>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lnSpc>
          <a:spcPct val="110000"/>
        </a:lnSpc>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marina">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517200" y="610700"/>
            <a:ext cx="11157600" cy="914800"/>
          </a:xfrm>
          <a:prstGeom prst="rect">
            <a:avLst/>
          </a:prstGeom>
          <a:noFill/>
          <a:ln>
            <a:noFill/>
          </a:ln>
        </p:spPr>
        <p:txBody>
          <a:bodyPr spcFirstLastPara="1" wrap="square" lIns="91425" tIns="91425" rIns="91425" bIns="91425" anchor="b" anchorCtr="0">
            <a:normAutofit/>
          </a:bodyPr>
          <a:lstStyle>
            <a:lvl1pPr lvl="0">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1pPr>
            <a:lvl2pPr lvl="1">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2pPr>
            <a:lvl3pPr lvl="2">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3pPr>
            <a:lvl4pPr lvl="3">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4pPr>
            <a:lvl5pPr lvl="4">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5pPr>
            <a:lvl6pPr lvl="5">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6pPr>
            <a:lvl7pPr lvl="6">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7pPr>
            <a:lvl8pPr lvl="7">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8pPr>
            <a:lvl9pPr lvl="8">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9pPr>
          </a:lstStyle>
          <a:p>
            <a:endParaRPr/>
          </a:p>
        </p:txBody>
      </p:sp>
      <p:sp>
        <p:nvSpPr>
          <p:cNvPr id="7" name="Google Shape;7;p1"/>
          <p:cNvSpPr txBox="1">
            <a:spLocks noGrp="1"/>
          </p:cNvSpPr>
          <p:nvPr>
            <p:ph type="body" idx="1"/>
          </p:nvPr>
        </p:nvSpPr>
        <p:spPr>
          <a:xfrm>
            <a:off x="517200" y="1986432"/>
            <a:ext cx="11157600" cy="41052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marL="914400" lvl="1"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2pPr>
            <a:lvl3pPr marL="1371600" lvl="2"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3pPr>
            <a:lvl4pPr marL="1828800" lvl="3"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4pPr>
            <a:lvl5pPr marL="2286000" lvl="4"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5pPr>
            <a:lvl6pPr marL="2743200" lvl="5"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6pPr>
            <a:lvl7pPr marL="3200400" lvl="6"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7pPr>
            <a:lvl8pPr marL="3657600" lvl="7"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8pPr>
            <a:lvl9pPr marL="4114800" lvl="8"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lvl="0" algn="r">
              <a:buNone/>
              <a:defRPr sz="1333">
                <a:solidFill>
                  <a:schemeClr val="dk1"/>
                </a:solidFill>
                <a:latin typeface="Roboto"/>
                <a:ea typeface="Roboto"/>
                <a:cs typeface="Roboto"/>
                <a:sym typeface="Roboto"/>
              </a:defRPr>
            </a:lvl1pPr>
            <a:lvl2pPr lvl="1" algn="r">
              <a:buNone/>
              <a:defRPr sz="1333">
                <a:solidFill>
                  <a:schemeClr val="dk1"/>
                </a:solidFill>
                <a:latin typeface="Roboto"/>
                <a:ea typeface="Roboto"/>
                <a:cs typeface="Roboto"/>
                <a:sym typeface="Roboto"/>
              </a:defRPr>
            </a:lvl2pPr>
            <a:lvl3pPr lvl="2" algn="r">
              <a:buNone/>
              <a:defRPr sz="1333">
                <a:solidFill>
                  <a:schemeClr val="dk1"/>
                </a:solidFill>
                <a:latin typeface="Roboto"/>
                <a:ea typeface="Roboto"/>
                <a:cs typeface="Roboto"/>
                <a:sym typeface="Roboto"/>
              </a:defRPr>
            </a:lvl3pPr>
            <a:lvl4pPr lvl="3" algn="r">
              <a:buNone/>
              <a:defRPr sz="1333">
                <a:solidFill>
                  <a:schemeClr val="dk1"/>
                </a:solidFill>
                <a:latin typeface="Roboto"/>
                <a:ea typeface="Roboto"/>
                <a:cs typeface="Roboto"/>
                <a:sym typeface="Roboto"/>
              </a:defRPr>
            </a:lvl4pPr>
            <a:lvl5pPr lvl="4" algn="r">
              <a:buNone/>
              <a:defRPr sz="1333">
                <a:solidFill>
                  <a:schemeClr val="dk1"/>
                </a:solidFill>
                <a:latin typeface="Roboto"/>
                <a:ea typeface="Roboto"/>
                <a:cs typeface="Roboto"/>
                <a:sym typeface="Roboto"/>
              </a:defRPr>
            </a:lvl5pPr>
            <a:lvl6pPr lvl="5" algn="r">
              <a:buNone/>
              <a:defRPr sz="1333">
                <a:solidFill>
                  <a:schemeClr val="dk1"/>
                </a:solidFill>
                <a:latin typeface="Roboto"/>
                <a:ea typeface="Roboto"/>
                <a:cs typeface="Roboto"/>
                <a:sym typeface="Roboto"/>
              </a:defRPr>
            </a:lvl6pPr>
            <a:lvl7pPr lvl="6" algn="r">
              <a:buNone/>
              <a:defRPr sz="1333">
                <a:solidFill>
                  <a:schemeClr val="dk1"/>
                </a:solidFill>
                <a:latin typeface="Roboto"/>
                <a:ea typeface="Roboto"/>
                <a:cs typeface="Roboto"/>
                <a:sym typeface="Roboto"/>
              </a:defRPr>
            </a:lvl7pPr>
            <a:lvl8pPr lvl="7" algn="r">
              <a:buNone/>
              <a:defRPr sz="1333">
                <a:solidFill>
                  <a:schemeClr val="dk1"/>
                </a:solidFill>
                <a:latin typeface="Roboto"/>
                <a:ea typeface="Roboto"/>
                <a:cs typeface="Roboto"/>
                <a:sym typeface="Roboto"/>
              </a:defRPr>
            </a:lvl8pPr>
            <a:lvl9pPr lvl="8" algn="r">
              <a:buNone/>
              <a:defRPr sz="1333">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Layout" Target="../slideLayouts/slideLayout1.xml"/><Relationship Id="rId6" Type="http://schemas.openxmlformats.org/officeDocument/2006/relationships/image" Target="../media/image8.jpeg"/><Relationship Id="rId5" Type="http://schemas.openxmlformats.org/officeDocument/2006/relationships/hyperlink" Target="https://technofaq.org/posts/2018/12/how-your-smartphone-affects-your-sleep/" TargetMode="External"/><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0.xml"/><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0.xml"/><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20.xml"/><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20.xml"/><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20.xml"/><Relationship Id="rId5" Type="http://schemas.openxmlformats.org/officeDocument/2006/relationships/image" Target="../media/image24.png"/><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20.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4.xml"/><Relationship Id="rId1" Type="http://schemas.openxmlformats.org/officeDocument/2006/relationships/slideLayout" Target="../slideLayouts/slideLayout20.xml"/></Relationships>
</file>

<file path=ppt/slides/_rels/slide1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5.xml"/><Relationship Id="rId1" Type="http://schemas.openxmlformats.org/officeDocument/2006/relationships/slideLayout" Target="../slideLayouts/slideLayout20.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6.xml"/><Relationship Id="rId1" Type="http://schemas.openxmlformats.org/officeDocument/2006/relationships/slideLayout" Target="../slideLayouts/slideLayout20.xml"/></Relationships>
</file>

<file path=ppt/slides/_rels/slide1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7.xml"/><Relationship Id="rId1" Type="http://schemas.openxmlformats.org/officeDocument/2006/relationships/slideLayout" Target="../slideLayouts/slideLayout20.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1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8.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sp useBgFill="1">
        <p:nvSpPr>
          <p:cNvPr id="33" name="Rectangle 25">
            <a:extLst>
              <a:ext uri="{FF2B5EF4-FFF2-40B4-BE49-F238E27FC236}">
                <a16:creationId xmlns:a16="http://schemas.microsoft.com/office/drawing/2014/main" id="{72CA733A-8D25-4E63-8273-CC14052E0E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1370693" y="4406537"/>
            <a:ext cx="9440034" cy="1088336"/>
          </a:xfrm>
        </p:spPr>
        <p:txBody>
          <a:bodyPr>
            <a:normAutofit/>
          </a:bodyPr>
          <a:lstStyle/>
          <a:p>
            <a:r>
              <a:rPr lang="en-US" sz="4800" dirty="0">
                <a:ln>
                  <a:solidFill>
                    <a:srgbClr val="000000">
                      <a:lumMod val="75000"/>
                      <a:lumOff val="25000"/>
                      <a:alpha val="10000"/>
                    </a:srgbClr>
                  </a:solidFill>
                </a:ln>
                <a:effectLst>
                  <a:outerShdw blurRad="9525" dist="25400" dir="14640000" algn="tl" rotWithShape="0">
                    <a:srgbClr val="000000">
                      <a:alpha val="30000"/>
                    </a:srgbClr>
                  </a:outerShdw>
                </a:effectLst>
              </a:rPr>
              <a:t>SLEEP STUDY</a:t>
            </a:r>
            <a:endParaRPr lang="en-US" sz="4800" dirty="0"/>
          </a:p>
        </p:txBody>
      </p:sp>
      <p:sp>
        <p:nvSpPr>
          <p:cNvPr id="3" name="Subtitle 2"/>
          <p:cNvSpPr>
            <a:spLocks noGrp="1"/>
          </p:cNvSpPr>
          <p:nvPr>
            <p:ph type="subTitle" idx="1"/>
          </p:nvPr>
        </p:nvSpPr>
        <p:spPr>
          <a:xfrm>
            <a:off x="1370693" y="5494872"/>
            <a:ext cx="9440034" cy="621614"/>
          </a:xfrm>
        </p:spPr>
        <p:txBody>
          <a:bodyPr>
            <a:normAutofit/>
          </a:bodyPr>
          <a:lstStyle/>
          <a:p>
            <a:r>
              <a:rPr lang="en-US" dirty="0">
                <a:ln>
                  <a:solidFill>
                    <a:srgbClr val="000000">
                      <a:lumMod val="75000"/>
                      <a:lumOff val="25000"/>
                      <a:alpha val="10000"/>
                    </a:srgbClr>
                  </a:solidFill>
                </a:ln>
                <a:solidFill>
                  <a:srgbClr val="BC3053"/>
                </a:solidFill>
                <a:effectLst>
                  <a:outerShdw blurRad="9525" dist="25400" dir="14640000" algn="tl" rotWithShape="0">
                    <a:srgbClr val="000000">
                      <a:alpha val="30000"/>
                    </a:srgbClr>
                  </a:outerShdw>
                </a:effectLst>
              </a:rPr>
              <a:t>BY </a:t>
            </a:r>
            <a:r>
              <a:rPr lang="en-US" dirty="0">
                <a:ln>
                  <a:solidFill>
                    <a:srgbClr val="000000">
                      <a:lumMod val="75000"/>
                      <a:lumOff val="25000"/>
                      <a:alpha val="10000"/>
                    </a:srgbClr>
                  </a:solidFill>
                </a:ln>
                <a:solidFill>
                  <a:srgbClr val="BC3053"/>
                </a:solidFill>
                <a:effectLst>
                  <a:outerShdw blurRad="9525" dist="25400" dir="14640000" algn="tl" rotWithShape="0">
                    <a:srgbClr val="000000">
                      <a:alpha val="30000"/>
                    </a:srgbClr>
                  </a:outerShdw>
                </a:effectLst>
                <a:ea typeface="+mn-lt"/>
                <a:cs typeface="+mn-lt"/>
              </a:rPr>
              <a:t>MAHEK PATEL</a:t>
            </a:r>
            <a:r>
              <a:rPr lang="en-US" dirty="0">
                <a:ln>
                  <a:solidFill>
                    <a:srgbClr val="000000">
                      <a:lumMod val="75000"/>
                      <a:lumOff val="25000"/>
                      <a:alpha val="10000"/>
                    </a:srgbClr>
                  </a:solidFill>
                </a:ln>
                <a:solidFill>
                  <a:srgbClr val="BC3053"/>
                </a:solidFill>
                <a:effectLst>
                  <a:outerShdw blurRad="9525" dist="25400" dir="14640000" algn="tl" rotWithShape="0">
                    <a:srgbClr val="000000">
                      <a:alpha val="30000"/>
                    </a:srgbClr>
                  </a:outerShdw>
                </a:effectLst>
              </a:rPr>
              <a:t>, MENGXIAO FANG, </a:t>
            </a:r>
            <a:r>
              <a:rPr lang="en-US" dirty="0">
                <a:ln>
                  <a:solidFill>
                    <a:srgbClr val="000000">
                      <a:lumMod val="75000"/>
                      <a:lumOff val="25000"/>
                      <a:alpha val="10000"/>
                    </a:srgbClr>
                  </a:solidFill>
                </a:ln>
                <a:solidFill>
                  <a:srgbClr val="BC3053"/>
                </a:solidFill>
                <a:effectLst>
                  <a:outerShdw blurRad="9525" dist="25400" dir="14640000" algn="tl" rotWithShape="0">
                    <a:srgbClr val="000000">
                      <a:alpha val="30000"/>
                    </a:srgbClr>
                  </a:outerShdw>
                </a:effectLst>
                <a:ea typeface="+mn-lt"/>
                <a:cs typeface="+mn-lt"/>
              </a:rPr>
              <a:t>KATERINA GUEVARRA</a:t>
            </a:r>
            <a:endParaRPr lang="en-US" dirty="0">
              <a:ln>
                <a:solidFill>
                  <a:srgbClr val="000000">
                    <a:lumMod val="75000"/>
                    <a:lumOff val="25000"/>
                    <a:alpha val="10000"/>
                  </a:srgbClr>
                </a:solidFill>
              </a:ln>
              <a:solidFill>
                <a:srgbClr val="BC3053"/>
              </a:solidFill>
              <a:effectLst>
                <a:outerShdw blurRad="9525" dist="25400" dir="14640000" algn="tl" rotWithShape="0">
                  <a:srgbClr val="000000">
                    <a:alpha val="30000"/>
                  </a:srgbClr>
                </a:outerShdw>
              </a:effectLst>
            </a:endParaRPr>
          </a:p>
        </p:txBody>
      </p:sp>
      <p:pic>
        <p:nvPicPr>
          <p:cNvPr id="34" name="Picture 27">
            <a:extLst>
              <a:ext uri="{FF2B5EF4-FFF2-40B4-BE49-F238E27FC236}">
                <a16:creationId xmlns:a16="http://schemas.microsoft.com/office/drawing/2014/main" id="{2BFB581C-2142-4222-9A3B-905AD6C0953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798" t="2669" r="616"/>
          <a:stretch/>
        </p:blipFill>
        <p:spPr>
          <a:xfrm>
            <a:off x="-1" y="0"/>
            <a:ext cx="12192001" cy="4322278"/>
          </a:xfrm>
          <a:prstGeom prst="rect">
            <a:avLst/>
          </a:prstGeom>
        </p:spPr>
      </p:pic>
      <p:pic>
        <p:nvPicPr>
          <p:cNvPr id="8" name="Picture 9" descr="A picture containing graphical user interface&#10;&#10;Description automatically generated">
            <a:extLst>
              <a:ext uri="{FF2B5EF4-FFF2-40B4-BE49-F238E27FC236}">
                <a16:creationId xmlns:a16="http://schemas.microsoft.com/office/drawing/2014/main" id="{AA55BFFA-7A8F-3D62-596D-7D8A414FFFED}"/>
              </a:ext>
            </a:extLst>
          </p:cNvPr>
          <p:cNvPicPr>
            <a:picLocks noChangeAspect="1"/>
          </p:cNvPicPr>
          <p:nvPr/>
        </p:nvPicPr>
        <p:blipFill rotWithShape="1">
          <a:blip r:embed="rId4">
            <a:extLst>
              <a:ext uri="{837473B0-CC2E-450A-ABE3-18F120FF3D39}">
                <a1611:picAttrSrcUrl xmlns:a1611="http://schemas.microsoft.com/office/drawing/2016/11/main" r:id="rId5"/>
              </a:ext>
            </a:extLst>
          </a:blip>
          <a:srcRect l="14250" r="3063"/>
          <a:stretch/>
        </p:blipFill>
        <p:spPr>
          <a:xfrm>
            <a:off x="-1" y="-1"/>
            <a:ext cx="6095987" cy="4220682"/>
          </a:xfrm>
          <a:prstGeom prst="rect">
            <a:avLst/>
          </a:prstGeom>
        </p:spPr>
      </p:pic>
      <p:pic>
        <p:nvPicPr>
          <p:cNvPr id="4" name="Picture 3" descr="Aesthetic liquid watercolor and ink">
            <a:extLst>
              <a:ext uri="{FF2B5EF4-FFF2-40B4-BE49-F238E27FC236}">
                <a16:creationId xmlns:a16="http://schemas.microsoft.com/office/drawing/2014/main" id="{1250D081-0C8B-BE81-8BF1-2F95F9BBB698}"/>
              </a:ext>
            </a:extLst>
          </p:cNvPr>
          <p:cNvPicPr>
            <a:picLocks noChangeAspect="1"/>
          </p:cNvPicPr>
          <p:nvPr/>
        </p:nvPicPr>
        <p:blipFill rotWithShape="1">
          <a:blip r:embed="rId6"/>
          <a:srcRect r="11096" b="-1"/>
          <a:stretch/>
        </p:blipFill>
        <p:spPr>
          <a:xfrm>
            <a:off x="6090710" y="10"/>
            <a:ext cx="6101290" cy="4220671"/>
          </a:xfrm>
          <a:prstGeom prst="rect">
            <a:avLst/>
          </a:prstGeom>
        </p:spPr>
      </p:pic>
    </p:spTree>
    <p:extLst>
      <p:ext uri="{BB962C8B-B14F-4D97-AF65-F5344CB8AC3E}">
        <p14:creationId xmlns:p14="http://schemas.microsoft.com/office/powerpoint/2010/main" val="109857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500"/>
                                  </p:stCondLst>
                                  <p:iterate>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700"/>
                                        <p:tgtEl>
                                          <p:spTgt spid="3">
                                            <p:txEl>
                                              <p:pRg st="0" end="0"/>
                                            </p:txEl>
                                          </p:spTgt>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2"/>
                                        </p:tgtEl>
                                        <p:attrNameLst>
                                          <p:attrName>style.visibility</p:attrName>
                                        </p:attrNameLst>
                                      </p:cBhvr>
                                      <p:to>
                                        <p:strVal val="visible"/>
                                      </p:to>
                                    </p:set>
                                    <p:animEffect transition="in" filter="fade">
                                      <p:cBhvr>
                                        <p:cTn id="10"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4"/>
          <p:cNvSpPr txBox="1">
            <a:spLocks noGrp="1"/>
          </p:cNvSpPr>
          <p:nvPr>
            <p:ph type="title"/>
          </p:nvPr>
        </p:nvSpPr>
        <p:spPr>
          <a:xfrm>
            <a:off x="517200" y="610700"/>
            <a:ext cx="11157600" cy="914800"/>
          </a:xfrm>
          <a:prstGeom prst="rect">
            <a:avLst/>
          </a:prstGeom>
        </p:spPr>
        <p:txBody>
          <a:bodyPr spcFirstLastPara="1" wrap="square" lIns="121900" tIns="121900" rIns="121900" bIns="121900" anchor="b" anchorCtr="0">
            <a:normAutofit/>
          </a:bodyPr>
          <a:lstStyle/>
          <a:p>
            <a:r>
              <a:rPr lang="en"/>
              <a:t>Background</a:t>
            </a:r>
            <a:endParaRPr/>
          </a:p>
        </p:txBody>
      </p:sp>
      <p:sp>
        <p:nvSpPr>
          <p:cNvPr id="72" name="Google Shape;72;p14"/>
          <p:cNvSpPr txBox="1">
            <a:spLocks noGrp="1"/>
          </p:cNvSpPr>
          <p:nvPr>
            <p:ph type="body" idx="1"/>
          </p:nvPr>
        </p:nvSpPr>
        <p:spPr>
          <a:xfrm>
            <a:off x="517200" y="1867665"/>
            <a:ext cx="11157600" cy="4105200"/>
          </a:xfrm>
          <a:prstGeom prst="rect">
            <a:avLst/>
          </a:prstGeom>
        </p:spPr>
        <p:txBody>
          <a:bodyPr spcFirstLastPara="1" wrap="square" lIns="121900" tIns="121900" rIns="121900" bIns="121900" anchor="t" anchorCtr="0">
            <a:normAutofit/>
          </a:bodyPr>
          <a:lstStyle/>
          <a:p>
            <a:pPr marL="0" indent="0">
              <a:spcAft>
                <a:spcPts val="1600"/>
              </a:spcAft>
              <a:buNone/>
            </a:pPr>
            <a:r>
              <a:rPr lang="en"/>
              <a:t>Average sleep time in U.S. is 7 hours</a:t>
            </a:r>
            <a:endParaRPr/>
          </a:p>
        </p:txBody>
      </p:sp>
      <p:sp>
        <p:nvSpPr>
          <p:cNvPr id="73" name="Google Shape;73;p14"/>
          <p:cNvSpPr/>
          <p:nvPr/>
        </p:nvSpPr>
        <p:spPr>
          <a:xfrm>
            <a:off x="6664700" y="3507800"/>
            <a:ext cx="3457600" cy="193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 sz="2933"/>
              <a:t>Sleep Time</a:t>
            </a:r>
            <a:endParaRPr sz="2933"/>
          </a:p>
        </p:txBody>
      </p:sp>
      <p:sp>
        <p:nvSpPr>
          <p:cNvPr id="74" name="Google Shape;74;p14"/>
          <p:cNvSpPr/>
          <p:nvPr/>
        </p:nvSpPr>
        <p:spPr>
          <a:xfrm>
            <a:off x="1573500" y="2716400"/>
            <a:ext cx="2850000" cy="7124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 sz="2133"/>
              <a:t>Age</a:t>
            </a:r>
            <a:endParaRPr sz="2133"/>
          </a:p>
        </p:txBody>
      </p:sp>
      <p:sp>
        <p:nvSpPr>
          <p:cNvPr id="75" name="Google Shape;75;p14"/>
          <p:cNvSpPr/>
          <p:nvPr/>
        </p:nvSpPr>
        <p:spPr>
          <a:xfrm>
            <a:off x="1573500" y="3641967"/>
            <a:ext cx="2850000" cy="7124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 sz="2133"/>
              <a:t>Gender</a:t>
            </a:r>
            <a:endParaRPr sz="2133"/>
          </a:p>
        </p:txBody>
      </p:sp>
      <p:sp>
        <p:nvSpPr>
          <p:cNvPr id="76" name="Google Shape;76;p14"/>
          <p:cNvSpPr/>
          <p:nvPr/>
        </p:nvSpPr>
        <p:spPr>
          <a:xfrm>
            <a:off x="1573500" y="4547833"/>
            <a:ext cx="2850000" cy="7124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 sz="2133"/>
              <a:t>Type of days</a:t>
            </a:r>
            <a:endParaRPr sz="2133"/>
          </a:p>
        </p:txBody>
      </p:sp>
      <p:sp>
        <p:nvSpPr>
          <p:cNvPr id="77" name="Google Shape;77;p14"/>
          <p:cNvSpPr/>
          <p:nvPr/>
        </p:nvSpPr>
        <p:spPr>
          <a:xfrm>
            <a:off x="1573500" y="5453700"/>
            <a:ext cx="2850000" cy="7124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 sz="2133"/>
              <a:t>Years</a:t>
            </a:r>
            <a:endParaRPr sz="2133"/>
          </a:p>
        </p:txBody>
      </p:sp>
      <p:cxnSp>
        <p:nvCxnSpPr>
          <p:cNvPr id="78" name="Google Shape;78;p14"/>
          <p:cNvCxnSpPr>
            <a:stCxn id="74" idx="3"/>
            <a:endCxn id="73" idx="2"/>
          </p:cNvCxnSpPr>
          <p:nvPr/>
        </p:nvCxnSpPr>
        <p:spPr>
          <a:xfrm>
            <a:off x="4423500" y="3072600"/>
            <a:ext cx="2241200" cy="1402000"/>
          </a:xfrm>
          <a:prstGeom prst="straightConnector1">
            <a:avLst/>
          </a:prstGeom>
          <a:noFill/>
          <a:ln w="19050" cap="flat" cmpd="sng">
            <a:solidFill>
              <a:schemeClr val="dk1"/>
            </a:solidFill>
            <a:prstDash val="solid"/>
            <a:round/>
            <a:headEnd type="none" w="med" len="med"/>
            <a:tailEnd type="triangle" w="med" len="med"/>
          </a:ln>
        </p:spPr>
      </p:cxnSp>
      <p:cxnSp>
        <p:nvCxnSpPr>
          <p:cNvPr id="79" name="Google Shape;79;p14"/>
          <p:cNvCxnSpPr>
            <a:stCxn id="75" idx="3"/>
            <a:endCxn id="73" idx="2"/>
          </p:cNvCxnSpPr>
          <p:nvPr/>
        </p:nvCxnSpPr>
        <p:spPr>
          <a:xfrm>
            <a:off x="4423500" y="3998167"/>
            <a:ext cx="2241200" cy="476400"/>
          </a:xfrm>
          <a:prstGeom prst="straightConnector1">
            <a:avLst/>
          </a:prstGeom>
          <a:noFill/>
          <a:ln w="19050" cap="flat" cmpd="sng">
            <a:solidFill>
              <a:schemeClr val="dk1"/>
            </a:solidFill>
            <a:prstDash val="solid"/>
            <a:round/>
            <a:headEnd type="none" w="med" len="med"/>
            <a:tailEnd type="triangle" w="med" len="med"/>
          </a:ln>
        </p:spPr>
      </p:cxnSp>
      <p:cxnSp>
        <p:nvCxnSpPr>
          <p:cNvPr id="80" name="Google Shape;80;p14"/>
          <p:cNvCxnSpPr>
            <a:stCxn id="76" idx="3"/>
            <a:endCxn id="73" idx="2"/>
          </p:cNvCxnSpPr>
          <p:nvPr/>
        </p:nvCxnSpPr>
        <p:spPr>
          <a:xfrm rot="10800000" flipH="1">
            <a:off x="4423500" y="4474433"/>
            <a:ext cx="2241200" cy="429600"/>
          </a:xfrm>
          <a:prstGeom prst="straightConnector1">
            <a:avLst/>
          </a:prstGeom>
          <a:noFill/>
          <a:ln w="19050" cap="flat" cmpd="sng">
            <a:solidFill>
              <a:schemeClr val="dk1"/>
            </a:solidFill>
            <a:prstDash val="solid"/>
            <a:round/>
            <a:headEnd type="none" w="med" len="med"/>
            <a:tailEnd type="triangle" w="med" len="med"/>
          </a:ln>
        </p:spPr>
      </p:cxnSp>
      <p:cxnSp>
        <p:nvCxnSpPr>
          <p:cNvPr id="81" name="Google Shape;81;p14"/>
          <p:cNvCxnSpPr>
            <a:stCxn id="77" idx="3"/>
            <a:endCxn id="73" idx="2"/>
          </p:cNvCxnSpPr>
          <p:nvPr/>
        </p:nvCxnSpPr>
        <p:spPr>
          <a:xfrm rot="10800000" flipH="1">
            <a:off x="4423500" y="4474700"/>
            <a:ext cx="2241200" cy="1335200"/>
          </a:xfrm>
          <a:prstGeom prst="straightConnector1">
            <a:avLst/>
          </a:prstGeom>
          <a:noFill/>
          <a:ln w="19050" cap="flat" cmpd="sng">
            <a:solidFill>
              <a:schemeClr val="dk1"/>
            </a:solidFill>
            <a:prstDash val="solid"/>
            <a:round/>
            <a:headEnd type="none" w="med" len="med"/>
            <a:tailEnd type="triangle" w="med" len="med"/>
          </a:ln>
        </p:spPr>
      </p:cxnSp>
    </p:spTree>
    <p:extLst>
      <p:ext uri="{BB962C8B-B14F-4D97-AF65-F5344CB8AC3E}">
        <p14:creationId xmlns:p14="http://schemas.microsoft.com/office/powerpoint/2010/main" val="3372305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5"/>
          <p:cNvSpPr txBox="1">
            <a:spLocks noGrp="1"/>
          </p:cNvSpPr>
          <p:nvPr>
            <p:ph type="title"/>
          </p:nvPr>
        </p:nvSpPr>
        <p:spPr>
          <a:xfrm>
            <a:off x="517200" y="610700"/>
            <a:ext cx="11157600" cy="914800"/>
          </a:xfrm>
          <a:prstGeom prst="rect">
            <a:avLst/>
          </a:prstGeom>
        </p:spPr>
        <p:txBody>
          <a:bodyPr spcFirstLastPara="1" wrap="square" lIns="121900" tIns="121900" rIns="121900" bIns="121900" anchor="b" anchorCtr="0">
            <a:normAutofit/>
          </a:bodyPr>
          <a:lstStyle/>
          <a:p>
            <a:pPr>
              <a:lnSpc>
                <a:spcPct val="115000"/>
              </a:lnSpc>
            </a:pPr>
            <a:r>
              <a:rPr lang="en"/>
              <a:t>FIRST HYPOTHESIS: Are they same? </a:t>
            </a:r>
            <a:endParaRPr/>
          </a:p>
        </p:txBody>
      </p:sp>
      <p:sp>
        <p:nvSpPr>
          <p:cNvPr id="87" name="Google Shape;87;p15"/>
          <p:cNvSpPr txBox="1">
            <a:spLocks noGrp="1"/>
          </p:cNvSpPr>
          <p:nvPr>
            <p:ph type="body" idx="1"/>
          </p:nvPr>
        </p:nvSpPr>
        <p:spPr>
          <a:xfrm>
            <a:off x="8166000" y="1986433"/>
            <a:ext cx="3508800" cy="4105200"/>
          </a:xfrm>
          <a:prstGeom prst="rect">
            <a:avLst/>
          </a:prstGeom>
        </p:spPr>
        <p:txBody>
          <a:bodyPr spcFirstLastPara="1" wrap="square" lIns="121900" tIns="121900" rIns="121900" bIns="121900" anchor="t" anchorCtr="0">
            <a:normAutofit/>
          </a:bodyPr>
          <a:lstStyle/>
          <a:p>
            <a:pPr marL="0" indent="0">
              <a:buNone/>
            </a:pPr>
            <a:r>
              <a:rPr lang="en" sz="2267">
                <a:latin typeface="Roboto Slab"/>
                <a:ea typeface="Roboto Slab"/>
                <a:cs typeface="Roboto Slab"/>
                <a:sym typeface="Roboto Slab"/>
              </a:rPr>
              <a:t>H0: Each age group has the same average sleep time</a:t>
            </a:r>
            <a:endParaRPr sz="2267">
              <a:latin typeface="Roboto Slab"/>
              <a:ea typeface="Roboto Slab"/>
              <a:cs typeface="Roboto Slab"/>
              <a:sym typeface="Roboto Slab"/>
            </a:endParaRPr>
          </a:p>
          <a:p>
            <a:pPr marL="0" indent="0">
              <a:buNone/>
            </a:pPr>
            <a:r>
              <a:rPr lang="en" sz="2267">
                <a:latin typeface="Roboto Slab"/>
                <a:ea typeface="Roboto Slab"/>
                <a:cs typeface="Roboto Slab"/>
                <a:sym typeface="Roboto Slab"/>
              </a:rPr>
              <a:t>H1: Each age group has a different average sleep time </a:t>
            </a:r>
            <a:endParaRPr sz="2267">
              <a:latin typeface="Roboto Slab"/>
              <a:ea typeface="Roboto Slab"/>
              <a:cs typeface="Roboto Slab"/>
              <a:sym typeface="Roboto Slab"/>
            </a:endParaRPr>
          </a:p>
          <a:p>
            <a:pPr marL="0" indent="0">
              <a:buNone/>
            </a:pPr>
            <a:endParaRPr sz="2667">
              <a:latin typeface="Roboto Slab"/>
              <a:ea typeface="Roboto Slab"/>
              <a:cs typeface="Roboto Slab"/>
              <a:sym typeface="Roboto Slab"/>
            </a:endParaRPr>
          </a:p>
          <a:p>
            <a:pPr marL="0" indent="0">
              <a:buNone/>
            </a:pPr>
            <a:endParaRPr sz="2667">
              <a:latin typeface="Roboto Slab"/>
              <a:ea typeface="Roboto Slab"/>
              <a:cs typeface="Roboto Slab"/>
              <a:sym typeface="Roboto Slab"/>
            </a:endParaRPr>
          </a:p>
        </p:txBody>
      </p:sp>
      <p:sp>
        <p:nvSpPr>
          <p:cNvPr id="88" name="Google Shape;88;p15"/>
          <p:cNvSpPr txBox="1">
            <a:spLocks noGrp="1"/>
          </p:cNvSpPr>
          <p:nvPr>
            <p:ph type="body" idx="1"/>
          </p:nvPr>
        </p:nvSpPr>
        <p:spPr>
          <a:xfrm>
            <a:off x="517200" y="1986433"/>
            <a:ext cx="7763200" cy="4105200"/>
          </a:xfrm>
          <a:prstGeom prst="rect">
            <a:avLst/>
          </a:prstGeom>
        </p:spPr>
        <p:txBody>
          <a:bodyPr spcFirstLastPara="1" wrap="square" lIns="121900" tIns="121900" rIns="121900" bIns="121900" anchor="t" anchorCtr="0">
            <a:noAutofit/>
          </a:bodyPr>
          <a:lstStyle/>
          <a:p>
            <a:pPr marL="0" indent="0">
              <a:lnSpc>
                <a:spcPct val="95000"/>
              </a:lnSpc>
              <a:buSzPts val="852"/>
              <a:buNone/>
            </a:pPr>
            <a:r>
              <a:rPr lang="en" sz="1484">
                <a:solidFill>
                  <a:srgbClr val="000000"/>
                </a:solidFill>
                <a:highlight>
                  <a:srgbClr val="FFFFFF"/>
                </a:highlight>
                <a:latin typeface="Courier New"/>
                <a:ea typeface="Courier New"/>
                <a:cs typeface="Courier New"/>
                <a:sym typeface="Courier New"/>
              </a:rPr>
              <a:t>#	Pairwise comparisons using paired t tests </a:t>
            </a:r>
            <a:endParaRPr sz="1484">
              <a:solidFill>
                <a:srgbClr val="000000"/>
              </a:solidFill>
              <a:highlight>
                <a:srgbClr val="FFFFFF"/>
              </a:highlight>
              <a:latin typeface="Courier New"/>
              <a:ea typeface="Courier New"/>
              <a:cs typeface="Courier New"/>
              <a:sym typeface="Courier New"/>
            </a:endParaRPr>
          </a:p>
          <a:p>
            <a:pPr marL="0" indent="0">
              <a:lnSpc>
                <a:spcPct val="95000"/>
              </a:lnSpc>
              <a:buSzPts val="852"/>
              <a:buNone/>
            </a:pPr>
            <a:endParaRPr sz="1484">
              <a:solidFill>
                <a:srgbClr val="000000"/>
              </a:solidFill>
              <a:highlight>
                <a:srgbClr val="FFFFFF"/>
              </a:highlight>
              <a:latin typeface="Courier New"/>
              <a:ea typeface="Courier New"/>
              <a:cs typeface="Courier New"/>
              <a:sym typeface="Courier New"/>
            </a:endParaRPr>
          </a:p>
          <a:p>
            <a:pPr marL="0" indent="0">
              <a:lnSpc>
                <a:spcPct val="95000"/>
              </a:lnSpc>
              <a:buSzPts val="852"/>
              <a:buNone/>
            </a:pPr>
            <a:r>
              <a:rPr lang="en" sz="1484">
                <a:solidFill>
                  <a:srgbClr val="000000"/>
                </a:solidFill>
                <a:highlight>
                  <a:srgbClr val="FFFFFF"/>
                </a:highlight>
                <a:latin typeface="Courier New"/>
                <a:ea typeface="Courier New"/>
                <a:cs typeface="Courier New"/>
                <a:sym typeface="Courier New"/>
              </a:rPr>
              <a:t>#data:  Sleep$AvgHours and Sleep$Age.Group </a:t>
            </a:r>
            <a:endParaRPr sz="1484">
              <a:solidFill>
                <a:srgbClr val="000000"/>
              </a:solidFill>
              <a:highlight>
                <a:srgbClr val="FFFFFF"/>
              </a:highlight>
              <a:latin typeface="Courier New"/>
              <a:ea typeface="Courier New"/>
              <a:cs typeface="Courier New"/>
              <a:sym typeface="Courier New"/>
            </a:endParaRPr>
          </a:p>
          <a:p>
            <a:pPr marL="0" indent="0">
              <a:lnSpc>
                <a:spcPct val="95000"/>
              </a:lnSpc>
              <a:buSzPts val="852"/>
              <a:buNone/>
            </a:pPr>
            <a:endParaRPr sz="1484">
              <a:solidFill>
                <a:srgbClr val="000000"/>
              </a:solidFill>
              <a:highlight>
                <a:srgbClr val="FFFFFF"/>
              </a:highlight>
              <a:latin typeface="Courier New"/>
              <a:ea typeface="Courier New"/>
              <a:cs typeface="Courier New"/>
              <a:sym typeface="Courier New"/>
            </a:endParaRPr>
          </a:p>
          <a:p>
            <a:pPr marL="0" indent="0">
              <a:lnSpc>
                <a:spcPct val="95000"/>
              </a:lnSpc>
              <a:buSzPts val="852"/>
              <a:buNone/>
            </a:pPr>
            <a:r>
              <a:rPr lang="en" sz="1484">
                <a:solidFill>
                  <a:srgbClr val="000000"/>
                </a:solidFill>
                <a:highlight>
                  <a:srgbClr val="FFFFFF"/>
                </a:highlight>
                <a:latin typeface="Courier New"/>
                <a:ea typeface="Courier New"/>
                <a:cs typeface="Courier New"/>
                <a:sym typeface="Courier New"/>
              </a:rPr>
              <a:t>#                  15 to 24 years 15 years and over 25 to 34 years</a:t>
            </a:r>
            <a:endParaRPr sz="1484">
              <a:solidFill>
                <a:srgbClr val="000000"/>
              </a:solidFill>
              <a:highlight>
                <a:srgbClr val="FFFFFF"/>
              </a:highlight>
              <a:latin typeface="Courier New"/>
              <a:ea typeface="Courier New"/>
              <a:cs typeface="Courier New"/>
              <a:sym typeface="Courier New"/>
            </a:endParaRPr>
          </a:p>
          <a:p>
            <a:pPr marL="0" indent="0">
              <a:lnSpc>
                <a:spcPct val="95000"/>
              </a:lnSpc>
              <a:buSzPts val="852"/>
              <a:buNone/>
            </a:pPr>
            <a:r>
              <a:rPr lang="en" sz="1484">
                <a:solidFill>
                  <a:srgbClr val="000000"/>
                </a:solidFill>
                <a:highlight>
                  <a:srgbClr val="FFFFFF"/>
                </a:highlight>
                <a:latin typeface="Courier New"/>
                <a:ea typeface="Courier New"/>
                <a:cs typeface="Courier New"/>
                <a:sym typeface="Courier New"/>
              </a:rPr>
              <a:t>#15 years and over &lt; 2e-16        -                 -             </a:t>
            </a:r>
            <a:endParaRPr sz="1484">
              <a:solidFill>
                <a:srgbClr val="000000"/>
              </a:solidFill>
              <a:highlight>
                <a:srgbClr val="FFFFFF"/>
              </a:highlight>
              <a:latin typeface="Courier New"/>
              <a:ea typeface="Courier New"/>
              <a:cs typeface="Courier New"/>
              <a:sym typeface="Courier New"/>
            </a:endParaRPr>
          </a:p>
          <a:p>
            <a:pPr marL="0" indent="0">
              <a:lnSpc>
                <a:spcPct val="95000"/>
              </a:lnSpc>
              <a:buSzPts val="852"/>
              <a:buNone/>
            </a:pPr>
            <a:r>
              <a:rPr lang="en" sz="1484">
                <a:solidFill>
                  <a:srgbClr val="000000"/>
                </a:solidFill>
                <a:highlight>
                  <a:srgbClr val="FFFFFF"/>
                </a:highlight>
                <a:latin typeface="Courier New"/>
                <a:ea typeface="Courier New"/>
                <a:cs typeface="Courier New"/>
                <a:sym typeface="Courier New"/>
              </a:rPr>
              <a:t>#25 to 34 years    &lt; 2e-16        1.00000           -             </a:t>
            </a:r>
            <a:endParaRPr sz="1484">
              <a:solidFill>
                <a:srgbClr val="000000"/>
              </a:solidFill>
              <a:highlight>
                <a:srgbClr val="FFFFFF"/>
              </a:highlight>
              <a:latin typeface="Courier New"/>
              <a:ea typeface="Courier New"/>
              <a:cs typeface="Courier New"/>
              <a:sym typeface="Courier New"/>
            </a:endParaRPr>
          </a:p>
          <a:p>
            <a:pPr marL="0" indent="0">
              <a:lnSpc>
                <a:spcPct val="95000"/>
              </a:lnSpc>
              <a:buSzPts val="852"/>
              <a:buNone/>
            </a:pPr>
            <a:r>
              <a:rPr lang="en" sz="1484">
                <a:solidFill>
                  <a:srgbClr val="000000"/>
                </a:solidFill>
                <a:highlight>
                  <a:srgbClr val="FFFFFF"/>
                </a:highlight>
                <a:latin typeface="Courier New"/>
                <a:ea typeface="Courier New"/>
                <a:cs typeface="Courier New"/>
                <a:sym typeface="Courier New"/>
              </a:rPr>
              <a:t>#35 to 44 years    &lt; 2e-16        &lt; 2e-16           &lt; 2e-16       </a:t>
            </a:r>
            <a:endParaRPr sz="1484">
              <a:solidFill>
                <a:srgbClr val="000000"/>
              </a:solidFill>
              <a:highlight>
                <a:srgbClr val="FFFFFF"/>
              </a:highlight>
              <a:latin typeface="Courier New"/>
              <a:ea typeface="Courier New"/>
              <a:cs typeface="Courier New"/>
              <a:sym typeface="Courier New"/>
            </a:endParaRPr>
          </a:p>
          <a:p>
            <a:pPr marL="0" indent="0">
              <a:lnSpc>
                <a:spcPct val="95000"/>
              </a:lnSpc>
              <a:buSzPts val="852"/>
              <a:buNone/>
            </a:pPr>
            <a:r>
              <a:rPr lang="en" sz="1484">
                <a:solidFill>
                  <a:srgbClr val="000000"/>
                </a:solidFill>
                <a:highlight>
                  <a:srgbClr val="FFFFFF"/>
                </a:highlight>
                <a:latin typeface="Courier New"/>
                <a:ea typeface="Courier New"/>
                <a:cs typeface="Courier New"/>
                <a:sym typeface="Courier New"/>
              </a:rPr>
              <a:t>#45 to 54 years    &lt; 2e-16        &lt; 2e-16           &lt; 2e-16       </a:t>
            </a:r>
            <a:endParaRPr sz="1484">
              <a:solidFill>
                <a:srgbClr val="000000"/>
              </a:solidFill>
              <a:highlight>
                <a:srgbClr val="FFFFFF"/>
              </a:highlight>
              <a:latin typeface="Courier New"/>
              <a:ea typeface="Courier New"/>
              <a:cs typeface="Courier New"/>
              <a:sym typeface="Courier New"/>
            </a:endParaRPr>
          </a:p>
          <a:p>
            <a:pPr marL="0" indent="0">
              <a:lnSpc>
                <a:spcPct val="95000"/>
              </a:lnSpc>
              <a:buSzPts val="852"/>
              <a:buNone/>
            </a:pPr>
            <a:r>
              <a:rPr lang="en" sz="1484">
                <a:solidFill>
                  <a:srgbClr val="000000"/>
                </a:solidFill>
                <a:highlight>
                  <a:srgbClr val="FFFFFF"/>
                </a:highlight>
                <a:latin typeface="Courier New"/>
                <a:ea typeface="Courier New"/>
                <a:cs typeface="Courier New"/>
                <a:sym typeface="Courier New"/>
              </a:rPr>
              <a:t>#55 to 64 years    &lt; 2e-16        &lt; 2e-16           &lt; 2e-16       </a:t>
            </a:r>
            <a:endParaRPr sz="1484">
              <a:solidFill>
                <a:srgbClr val="000000"/>
              </a:solidFill>
              <a:highlight>
                <a:srgbClr val="FFFFFF"/>
              </a:highlight>
              <a:latin typeface="Courier New"/>
              <a:ea typeface="Courier New"/>
              <a:cs typeface="Courier New"/>
              <a:sym typeface="Courier New"/>
            </a:endParaRPr>
          </a:p>
          <a:p>
            <a:pPr marL="0" indent="0">
              <a:lnSpc>
                <a:spcPct val="95000"/>
              </a:lnSpc>
              <a:buSzPts val="852"/>
              <a:buNone/>
            </a:pPr>
            <a:r>
              <a:rPr lang="en" sz="1484">
                <a:solidFill>
                  <a:srgbClr val="000000"/>
                </a:solidFill>
                <a:highlight>
                  <a:srgbClr val="FFFFFF"/>
                </a:highlight>
                <a:latin typeface="Courier New"/>
                <a:ea typeface="Courier New"/>
                <a:cs typeface="Courier New"/>
                <a:sym typeface="Courier New"/>
              </a:rPr>
              <a:t>#65 years and over &lt; 2e-16        3.2e-07           7.1e-05       </a:t>
            </a:r>
            <a:endParaRPr sz="1484">
              <a:solidFill>
                <a:srgbClr val="000000"/>
              </a:solidFill>
              <a:highlight>
                <a:srgbClr val="FFFFFF"/>
              </a:highlight>
              <a:latin typeface="Courier New"/>
              <a:ea typeface="Courier New"/>
              <a:cs typeface="Courier New"/>
              <a:sym typeface="Courier New"/>
            </a:endParaRPr>
          </a:p>
          <a:p>
            <a:pPr marL="0" indent="0">
              <a:lnSpc>
                <a:spcPct val="95000"/>
              </a:lnSpc>
              <a:buSzPts val="852"/>
              <a:buNone/>
            </a:pPr>
            <a:r>
              <a:rPr lang="en" sz="1484">
                <a:solidFill>
                  <a:srgbClr val="000000"/>
                </a:solidFill>
                <a:highlight>
                  <a:srgbClr val="FFFFFF"/>
                </a:highlight>
                <a:latin typeface="Courier New"/>
                <a:ea typeface="Courier New"/>
                <a:cs typeface="Courier New"/>
                <a:sym typeface="Courier New"/>
              </a:rPr>
              <a:t>#                  35 to 44 years 45 to 54 years 55 to 64 years</a:t>
            </a:r>
            <a:endParaRPr sz="1484">
              <a:solidFill>
                <a:srgbClr val="000000"/>
              </a:solidFill>
              <a:highlight>
                <a:srgbClr val="FFFFFF"/>
              </a:highlight>
              <a:latin typeface="Courier New"/>
              <a:ea typeface="Courier New"/>
              <a:cs typeface="Courier New"/>
              <a:sym typeface="Courier New"/>
            </a:endParaRPr>
          </a:p>
          <a:p>
            <a:pPr marL="0" indent="0">
              <a:lnSpc>
                <a:spcPct val="95000"/>
              </a:lnSpc>
              <a:buSzPts val="852"/>
              <a:buNone/>
            </a:pPr>
            <a:r>
              <a:rPr lang="en" sz="1484">
                <a:solidFill>
                  <a:srgbClr val="000000"/>
                </a:solidFill>
                <a:highlight>
                  <a:srgbClr val="FFFFFF"/>
                </a:highlight>
                <a:latin typeface="Courier New"/>
                <a:ea typeface="Courier New"/>
                <a:cs typeface="Courier New"/>
                <a:sym typeface="Courier New"/>
              </a:rPr>
              <a:t>#15 years and over -              -              -             </a:t>
            </a:r>
            <a:endParaRPr sz="1484">
              <a:solidFill>
                <a:srgbClr val="000000"/>
              </a:solidFill>
              <a:highlight>
                <a:srgbClr val="FFFFFF"/>
              </a:highlight>
              <a:latin typeface="Courier New"/>
              <a:ea typeface="Courier New"/>
              <a:cs typeface="Courier New"/>
              <a:sym typeface="Courier New"/>
            </a:endParaRPr>
          </a:p>
          <a:p>
            <a:pPr marL="0" indent="0">
              <a:lnSpc>
                <a:spcPct val="95000"/>
              </a:lnSpc>
              <a:buSzPts val="852"/>
              <a:buNone/>
            </a:pPr>
            <a:r>
              <a:rPr lang="en" sz="1484">
                <a:solidFill>
                  <a:srgbClr val="000000"/>
                </a:solidFill>
                <a:highlight>
                  <a:srgbClr val="FFFFFF"/>
                </a:highlight>
                <a:latin typeface="Courier New"/>
                <a:ea typeface="Courier New"/>
                <a:cs typeface="Courier New"/>
                <a:sym typeface="Courier New"/>
              </a:rPr>
              <a:t>#25 to 34 years    -              -              -             </a:t>
            </a:r>
            <a:endParaRPr sz="1484">
              <a:solidFill>
                <a:srgbClr val="000000"/>
              </a:solidFill>
              <a:highlight>
                <a:srgbClr val="FFFFFF"/>
              </a:highlight>
              <a:latin typeface="Courier New"/>
              <a:ea typeface="Courier New"/>
              <a:cs typeface="Courier New"/>
              <a:sym typeface="Courier New"/>
            </a:endParaRPr>
          </a:p>
          <a:p>
            <a:pPr marL="0" indent="0">
              <a:lnSpc>
                <a:spcPct val="95000"/>
              </a:lnSpc>
              <a:buSzPts val="852"/>
              <a:buNone/>
            </a:pPr>
            <a:r>
              <a:rPr lang="en" sz="1484">
                <a:solidFill>
                  <a:srgbClr val="000000"/>
                </a:solidFill>
                <a:highlight>
                  <a:srgbClr val="FFFFFF"/>
                </a:highlight>
                <a:latin typeface="Courier New"/>
                <a:ea typeface="Courier New"/>
                <a:cs typeface="Courier New"/>
                <a:sym typeface="Courier New"/>
              </a:rPr>
              <a:t>#35 to 44 years    -              -              -             </a:t>
            </a:r>
            <a:endParaRPr sz="1484">
              <a:solidFill>
                <a:srgbClr val="000000"/>
              </a:solidFill>
              <a:highlight>
                <a:srgbClr val="FFFFFF"/>
              </a:highlight>
              <a:latin typeface="Courier New"/>
              <a:ea typeface="Courier New"/>
              <a:cs typeface="Courier New"/>
              <a:sym typeface="Courier New"/>
            </a:endParaRPr>
          </a:p>
          <a:p>
            <a:pPr marL="0" indent="0">
              <a:lnSpc>
                <a:spcPct val="95000"/>
              </a:lnSpc>
              <a:buSzPts val="852"/>
              <a:buNone/>
            </a:pPr>
            <a:r>
              <a:rPr lang="en" sz="1484">
                <a:solidFill>
                  <a:srgbClr val="000000"/>
                </a:solidFill>
                <a:highlight>
                  <a:srgbClr val="FFFFFF"/>
                </a:highlight>
                <a:latin typeface="Courier New"/>
                <a:ea typeface="Courier New"/>
                <a:cs typeface="Courier New"/>
                <a:sym typeface="Courier New"/>
              </a:rPr>
              <a:t>#45 to 54 years    4.9e-13        -              -             </a:t>
            </a:r>
            <a:endParaRPr sz="1484">
              <a:solidFill>
                <a:srgbClr val="000000"/>
              </a:solidFill>
              <a:highlight>
                <a:srgbClr val="FFFFFF"/>
              </a:highlight>
              <a:latin typeface="Courier New"/>
              <a:ea typeface="Courier New"/>
              <a:cs typeface="Courier New"/>
              <a:sym typeface="Courier New"/>
            </a:endParaRPr>
          </a:p>
          <a:p>
            <a:pPr marL="0" indent="0">
              <a:lnSpc>
                <a:spcPct val="95000"/>
              </a:lnSpc>
              <a:buSzPts val="852"/>
              <a:buNone/>
            </a:pPr>
            <a:r>
              <a:rPr lang="en" sz="1484">
                <a:solidFill>
                  <a:srgbClr val="000000"/>
                </a:solidFill>
                <a:highlight>
                  <a:srgbClr val="FFFFFF"/>
                </a:highlight>
                <a:latin typeface="Courier New"/>
                <a:ea typeface="Courier New"/>
                <a:cs typeface="Courier New"/>
                <a:sym typeface="Courier New"/>
              </a:rPr>
              <a:t>#55 to 64 years    0.00041        1.00000        -             </a:t>
            </a:r>
            <a:endParaRPr sz="1484">
              <a:solidFill>
                <a:srgbClr val="000000"/>
              </a:solidFill>
              <a:highlight>
                <a:srgbClr val="FFFFFF"/>
              </a:highlight>
              <a:latin typeface="Courier New"/>
              <a:ea typeface="Courier New"/>
              <a:cs typeface="Courier New"/>
              <a:sym typeface="Courier New"/>
            </a:endParaRPr>
          </a:p>
          <a:p>
            <a:pPr marL="0" indent="0">
              <a:lnSpc>
                <a:spcPct val="95000"/>
              </a:lnSpc>
              <a:buSzPts val="852"/>
              <a:buNone/>
            </a:pPr>
            <a:r>
              <a:rPr lang="en" sz="1484">
                <a:solidFill>
                  <a:srgbClr val="000000"/>
                </a:solidFill>
                <a:highlight>
                  <a:srgbClr val="FFFFFF"/>
                </a:highlight>
                <a:latin typeface="Courier New"/>
                <a:ea typeface="Courier New"/>
                <a:cs typeface="Courier New"/>
                <a:sym typeface="Courier New"/>
              </a:rPr>
              <a:t>#65 years and over &lt; 2e-16        &lt; 2e-16        &lt; 2e-16       </a:t>
            </a:r>
            <a:endParaRPr sz="1484">
              <a:solidFill>
                <a:srgbClr val="000000"/>
              </a:solidFill>
              <a:highlight>
                <a:srgbClr val="FFFFFF"/>
              </a:highlight>
              <a:latin typeface="Courier New"/>
              <a:ea typeface="Courier New"/>
              <a:cs typeface="Courier New"/>
              <a:sym typeface="Courier New"/>
            </a:endParaRPr>
          </a:p>
          <a:p>
            <a:pPr marL="0" indent="0">
              <a:lnSpc>
                <a:spcPct val="95000"/>
              </a:lnSpc>
              <a:buSzPts val="852"/>
              <a:buNone/>
            </a:pPr>
            <a:endParaRPr sz="1484">
              <a:solidFill>
                <a:srgbClr val="000000"/>
              </a:solidFill>
              <a:highlight>
                <a:srgbClr val="FFFFFF"/>
              </a:highlight>
              <a:latin typeface="Courier New"/>
              <a:ea typeface="Courier New"/>
              <a:cs typeface="Courier New"/>
              <a:sym typeface="Courier New"/>
            </a:endParaRPr>
          </a:p>
          <a:p>
            <a:pPr marL="0" indent="0">
              <a:lnSpc>
                <a:spcPct val="90000"/>
              </a:lnSpc>
              <a:buSzPts val="852"/>
              <a:buNone/>
            </a:pPr>
            <a:r>
              <a:rPr lang="en" sz="1484">
                <a:solidFill>
                  <a:srgbClr val="000000"/>
                </a:solidFill>
                <a:highlight>
                  <a:srgbClr val="FFFFFF"/>
                </a:highlight>
                <a:latin typeface="Courier New"/>
                <a:ea typeface="Courier New"/>
                <a:cs typeface="Courier New"/>
                <a:sym typeface="Courier New"/>
              </a:rPr>
              <a:t>#P value adjustment method: bonferroni</a:t>
            </a:r>
            <a:endParaRPr sz="1484">
              <a:solidFill>
                <a:srgbClr val="000000"/>
              </a:solidFill>
              <a:highlight>
                <a:srgbClr val="FFFFFF"/>
              </a:highlight>
              <a:latin typeface="Courier New"/>
              <a:ea typeface="Courier New"/>
              <a:cs typeface="Courier New"/>
              <a:sym typeface="Courier New"/>
            </a:endParaRPr>
          </a:p>
          <a:p>
            <a:pPr marL="0" indent="0">
              <a:lnSpc>
                <a:spcPct val="90000"/>
              </a:lnSpc>
              <a:buSzPts val="852"/>
              <a:buNone/>
            </a:pPr>
            <a:r>
              <a:rPr lang="en" sz="1484">
                <a:solidFill>
                  <a:srgbClr val="000000"/>
                </a:solidFill>
                <a:highlight>
                  <a:srgbClr val="FFFFFF"/>
                </a:highlight>
                <a:latin typeface="Courier New"/>
                <a:ea typeface="Courier New"/>
                <a:cs typeface="Courier New"/>
                <a:sym typeface="Courier New"/>
              </a:rPr>
              <a:t>#</a:t>
            </a:r>
            <a:endParaRPr sz="1484">
              <a:solidFill>
                <a:srgbClr val="000000"/>
              </a:solidFill>
              <a:highlight>
                <a:srgbClr val="FFFFFF"/>
              </a:highlight>
              <a:latin typeface="Courier New"/>
              <a:ea typeface="Courier New"/>
              <a:cs typeface="Courier New"/>
              <a:sym typeface="Courier New"/>
            </a:endParaRPr>
          </a:p>
          <a:p>
            <a:pPr marL="0" indent="0">
              <a:lnSpc>
                <a:spcPct val="95000"/>
              </a:lnSpc>
              <a:spcAft>
                <a:spcPts val="1600"/>
              </a:spcAft>
              <a:buSzPts val="852"/>
              <a:buNone/>
            </a:pPr>
            <a:endParaRPr sz="1860"/>
          </a:p>
        </p:txBody>
      </p:sp>
    </p:spTree>
    <p:extLst>
      <p:ext uri="{BB962C8B-B14F-4D97-AF65-F5344CB8AC3E}">
        <p14:creationId xmlns:p14="http://schemas.microsoft.com/office/powerpoint/2010/main" val="27913968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6"/>
          <p:cNvSpPr txBox="1">
            <a:spLocks noGrp="1"/>
          </p:cNvSpPr>
          <p:nvPr>
            <p:ph type="title"/>
          </p:nvPr>
        </p:nvSpPr>
        <p:spPr>
          <a:xfrm>
            <a:off x="517200" y="610700"/>
            <a:ext cx="11476800" cy="914800"/>
          </a:xfrm>
          <a:prstGeom prst="rect">
            <a:avLst/>
          </a:prstGeom>
        </p:spPr>
        <p:txBody>
          <a:bodyPr spcFirstLastPara="1" wrap="square" lIns="121900" tIns="121900" rIns="121900" bIns="121900" anchor="b" anchorCtr="0">
            <a:normAutofit/>
          </a:bodyPr>
          <a:lstStyle/>
          <a:p>
            <a:pPr>
              <a:buSzPts val="990"/>
            </a:pPr>
            <a:r>
              <a:rPr lang="en" sz="3467"/>
              <a:t>SECOND HYPOTHESIS: Older age group sleeps more? </a:t>
            </a:r>
            <a:endParaRPr sz="3467"/>
          </a:p>
        </p:txBody>
      </p:sp>
      <p:sp>
        <p:nvSpPr>
          <p:cNvPr id="94" name="Google Shape;94;p16"/>
          <p:cNvSpPr txBox="1">
            <a:spLocks noGrp="1"/>
          </p:cNvSpPr>
          <p:nvPr>
            <p:ph type="body" idx="1"/>
          </p:nvPr>
        </p:nvSpPr>
        <p:spPr>
          <a:xfrm>
            <a:off x="357600" y="1588333"/>
            <a:ext cx="11476800" cy="4898400"/>
          </a:xfrm>
          <a:prstGeom prst="rect">
            <a:avLst/>
          </a:prstGeom>
        </p:spPr>
        <p:txBody>
          <a:bodyPr spcFirstLastPara="1" wrap="square" lIns="121900" tIns="121900" rIns="121900" bIns="121900" anchor="t" anchorCtr="0">
            <a:noAutofit/>
          </a:bodyPr>
          <a:lstStyle/>
          <a:p>
            <a:pPr marL="0" indent="0">
              <a:buNone/>
            </a:pPr>
            <a:r>
              <a:rPr lang="en" sz="2133">
                <a:latin typeface="Arial"/>
                <a:ea typeface="Arial"/>
                <a:cs typeface="Arial"/>
                <a:sym typeface="Arial"/>
              </a:rPr>
              <a:t>#                                                             diff               lwr                      upr                  p adj</a:t>
            </a:r>
            <a:endParaRPr sz="2133">
              <a:latin typeface="Arial"/>
              <a:ea typeface="Arial"/>
              <a:cs typeface="Arial"/>
              <a:sym typeface="Arial"/>
            </a:endParaRPr>
          </a:p>
          <a:p>
            <a:pPr marL="0" indent="0">
              <a:buNone/>
            </a:pPr>
            <a:r>
              <a:rPr lang="en" sz="2133">
                <a:solidFill>
                  <a:srgbClr val="000000"/>
                </a:solidFill>
                <a:highlight>
                  <a:srgbClr val="FCE5CD"/>
                </a:highlight>
                <a:latin typeface="Arial"/>
                <a:ea typeface="Arial"/>
                <a:cs typeface="Arial"/>
                <a:sym typeface="Arial"/>
              </a:rPr>
              <a:t>45 to 54 years-15 to 24 years          -1.01518519    -1.172571155    -0.85779922    0.0000000</a:t>
            </a:r>
            <a:endParaRPr sz="2133">
              <a:solidFill>
                <a:srgbClr val="000000"/>
              </a:solidFill>
              <a:highlight>
                <a:srgbClr val="FCE5CD"/>
              </a:highlight>
              <a:latin typeface="Arial"/>
              <a:ea typeface="Arial"/>
              <a:cs typeface="Arial"/>
              <a:sym typeface="Arial"/>
            </a:endParaRPr>
          </a:p>
          <a:p>
            <a:pPr marL="0" indent="0">
              <a:buNone/>
            </a:pPr>
            <a:endParaRPr sz="1333">
              <a:solidFill>
                <a:srgbClr val="000000"/>
              </a:solidFill>
              <a:highlight>
                <a:srgbClr val="FCE5CD"/>
              </a:highlight>
              <a:latin typeface="Arial"/>
              <a:ea typeface="Arial"/>
              <a:cs typeface="Arial"/>
              <a:sym typeface="Arial"/>
            </a:endParaRPr>
          </a:p>
          <a:p>
            <a:pPr marL="0" indent="0">
              <a:buNone/>
            </a:pPr>
            <a:r>
              <a:rPr lang="en" sz="2133">
                <a:solidFill>
                  <a:srgbClr val="000000"/>
                </a:solidFill>
                <a:highlight>
                  <a:srgbClr val="B6D7A8"/>
                </a:highlight>
                <a:latin typeface="Arial"/>
                <a:ea typeface="Arial"/>
                <a:cs typeface="Arial"/>
                <a:sym typeface="Arial"/>
              </a:rPr>
              <a:t>65 years and over-15 to 24 years    -0.53340741    -0.690793377    -0.37602144    0.0000000</a:t>
            </a:r>
            <a:endParaRPr sz="2133">
              <a:solidFill>
                <a:srgbClr val="000000"/>
              </a:solidFill>
              <a:highlight>
                <a:srgbClr val="B6D7A8"/>
              </a:highlight>
              <a:latin typeface="Arial"/>
              <a:ea typeface="Arial"/>
              <a:cs typeface="Arial"/>
              <a:sym typeface="Arial"/>
            </a:endParaRPr>
          </a:p>
          <a:p>
            <a:pPr marL="0" indent="0">
              <a:buNone/>
            </a:pPr>
            <a:endParaRPr sz="1333">
              <a:solidFill>
                <a:srgbClr val="000000"/>
              </a:solidFill>
              <a:highlight>
                <a:srgbClr val="B6D7A8"/>
              </a:highlight>
              <a:latin typeface="Arial"/>
              <a:ea typeface="Arial"/>
              <a:cs typeface="Arial"/>
              <a:sym typeface="Arial"/>
            </a:endParaRPr>
          </a:p>
          <a:p>
            <a:pPr marL="0" indent="0">
              <a:buNone/>
            </a:pPr>
            <a:r>
              <a:rPr lang="en" sz="2133">
                <a:solidFill>
                  <a:srgbClr val="000000"/>
                </a:solidFill>
                <a:highlight>
                  <a:srgbClr val="B6D7A8"/>
                </a:highlight>
                <a:latin typeface="Arial"/>
                <a:ea typeface="Arial"/>
                <a:cs typeface="Arial"/>
                <a:sym typeface="Arial"/>
              </a:rPr>
              <a:t>65 years and over-15 years and over  0.15555556 -0.001830414     0.31294153    0.0551174</a:t>
            </a:r>
            <a:endParaRPr sz="2133">
              <a:solidFill>
                <a:srgbClr val="000000"/>
              </a:solidFill>
              <a:highlight>
                <a:srgbClr val="B6D7A8"/>
              </a:highlight>
              <a:latin typeface="Arial"/>
              <a:ea typeface="Arial"/>
              <a:cs typeface="Arial"/>
              <a:sym typeface="Arial"/>
            </a:endParaRPr>
          </a:p>
          <a:p>
            <a:pPr marL="0" indent="0">
              <a:buNone/>
            </a:pPr>
            <a:endParaRPr sz="1333">
              <a:solidFill>
                <a:srgbClr val="000000"/>
              </a:solidFill>
              <a:highlight>
                <a:srgbClr val="B6D7A8"/>
              </a:highlight>
              <a:latin typeface="Arial"/>
              <a:ea typeface="Arial"/>
              <a:cs typeface="Arial"/>
              <a:sym typeface="Arial"/>
            </a:endParaRPr>
          </a:p>
          <a:p>
            <a:pPr marL="0" indent="0">
              <a:buNone/>
            </a:pPr>
            <a:r>
              <a:rPr lang="en" sz="2133">
                <a:solidFill>
                  <a:srgbClr val="000000"/>
                </a:solidFill>
                <a:highlight>
                  <a:srgbClr val="B6D7A8"/>
                </a:highlight>
                <a:latin typeface="Arial"/>
                <a:ea typeface="Arial"/>
                <a:cs typeface="Arial"/>
                <a:sym typeface="Arial"/>
              </a:rPr>
              <a:t>65 years and over-25 to 34 years     0.17274074     0.015354771     0.33012671    0.0208485</a:t>
            </a:r>
            <a:endParaRPr sz="2133">
              <a:solidFill>
                <a:srgbClr val="000000"/>
              </a:solidFill>
              <a:highlight>
                <a:srgbClr val="B6D7A8"/>
              </a:highlight>
              <a:latin typeface="Arial"/>
              <a:ea typeface="Arial"/>
              <a:cs typeface="Arial"/>
              <a:sym typeface="Arial"/>
            </a:endParaRPr>
          </a:p>
          <a:p>
            <a:pPr marL="0" indent="0">
              <a:buNone/>
            </a:pPr>
            <a:endParaRPr sz="1333">
              <a:solidFill>
                <a:srgbClr val="000000"/>
              </a:solidFill>
              <a:highlight>
                <a:srgbClr val="B6D7A8"/>
              </a:highlight>
              <a:latin typeface="Arial"/>
              <a:ea typeface="Arial"/>
              <a:cs typeface="Arial"/>
              <a:sym typeface="Arial"/>
            </a:endParaRPr>
          </a:p>
          <a:p>
            <a:pPr marL="0" indent="0">
              <a:buNone/>
            </a:pPr>
            <a:r>
              <a:rPr lang="en" sz="2133">
                <a:solidFill>
                  <a:srgbClr val="000000"/>
                </a:solidFill>
                <a:highlight>
                  <a:srgbClr val="B6D7A8"/>
                </a:highlight>
                <a:latin typeface="Arial"/>
                <a:ea typeface="Arial"/>
                <a:cs typeface="Arial"/>
                <a:sym typeface="Arial"/>
              </a:rPr>
              <a:t>65 years and over-35 to 44 years     0.37962963     0.222243660     0.53701560    0.0000000</a:t>
            </a:r>
            <a:endParaRPr sz="2133">
              <a:solidFill>
                <a:srgbClr val="000000"/>
              </a:solidFill>
              <a:highlight>
                <a:srgbClr val="B6D7A8"/>
              </a:highlight>
              <a:latin typeface="Arial"/>
              <a:ea typeface="Arial"/>
              <a:cs typeface="Arial"/>
              <a:sym typeface="Arial"/>
            </a:endParaRPr>
          </a:p>
          <a:p>
            <a:pPr marL="0" indent="0">
              <a:buNone/>
            </a:pPr>
            <a:endParaRPr sz="1333">
              <a:solidFill>
                <a:srgbClr val="000000"/>
              </a:solidFill>
              <a:highlight>
                <a:srgbClr val="B6D7A8"/>
              </a:highlight>
              <a:latin typeface="Arial"/>
              <a:ea typeface="Arial"/>
              <a:cs typeface="Arial"/>
              <a:sym typeface="Arial"/>
            </a:endParaRPr>
          </a:p>
          <a:p>
            <a:pPr marL="0" indent="0">
              <a:buNone/>
            </a:pPr>
            <a:r>
              <a:rPr lang="en" sz="2133">
                <a:solidFill>
                  <a:srgbClr val="000000"/>
                </a:solidFill>
                <a:highlight>
                  <a:srgbClr val="B6D7A8"/>
                </a:highlight>
                <a:latin typeface="Arial"/>
                <a:ea typeface="Arial"/>
                <a:cs typeface="Arial"/>
                <a:sym typeface="Arial"/>
              </a:rPr>
              <a:t>65 years and over-45 to 54 years     0.48177778     0.324391808     0.63916375    0.0000000</a:t>
            </a:r>
            <a:endParaRPr sz="2133">
              <a:solidFill>
                <a:srgbClr val="000000"/>
              </a:solidFill>
              <a:highlight>
                <a:srgbClr val="B6D7A8"/>
              </a:highlight>
              <a:latin typeface="Arial"/>
              <a:ea typeface="Arial"/>
              <a:cs typeface="Arial"/>
              <a:sym typeface="Arial"/>
            </a:endParaRPr>
          </a:p>
          <a:p>
            <a:pPr marL="0" indent="0">
              <a:buNone/>
            </a:pPr>
            <a:endParaRPr sz="1333">
              <a:solidFill>
                <a:srgbClr val="000000"/>
              </a:solidFill>
              <a:highlight>
                <a:srgbClr val="FCE5CD"/>
              </a:highlight>
              <a:latin typeface="Arial"/>
              <a:ea typeface="Arial"/>
              <a:cs typeface="Arial"/>
              <a:sym typeface="Arial"/>
            </a:endParaRPr>
          </a:p>
          <a:p>
            <a:pPr marL="0" indent="0">
              <a:buNone/>
            </a:pPr>
            <a:r>
              <a:rPr lang="en" sz="2133">
                <a:solidFill>
                  <a:srgbClr val="000000"/>
                </a:solidFill>
                <a:highlight>
                  <a:srgbClr val="B6D7A8"/>
                </a:highlight>
                <a:latin typeface="Arial"/>
                <a:ea typeface="Arial"/>
                <a:cs typeface="Arial"/>
                <a:sym typeface="Arial"/>
              </a:rPr>
              <a:t>65 years and over-55 to 64 years     0.45659259     0.299206623      0.61397856    0.0000000</a:t>
            </a:r>
            <a:endParaRPr sz="2533">
              <a:latin typeface="Arial"/>
              <a:ea typeface="Arial"/>
              <a:cs typeface="Arial"/>
              <a:sym typeface="Arial"/>
            </a:endParaRPr>
          </a:p>
        </p:txBody>
      </p:sp>
      <p:sp>
        <p:nvSpPr>
          <p:cNvPr id="95" name="Google Shape;95;p16"/>
          <p:cNvSpPr/>
          <p:nvPr/>
        </p:nvSpPr>
        <p:spPr>
          <a:xfrm>
            <a:off x="4648200" y="2552700"/>
            <a:ext cx="1765200" cy="571600"/>
          </a:xfrm>
          <a:prstGeom prst="ellipse">
            <a:avLst/>
          </a:prstGeom>
          <a:noFill/>
          <a:ln w="19050" cap="flat" cmpd="sng">
            <a:solidFill>
              <a:srgbClr val="FF0000"/>
            </a:solidFill>
            <a:prstDash val="solid"/>
            <a:round/>
            <a:headEnd type="none" w="sm" len="sm"/>
            <a:tailEnd type="none" w="sm" len="sm"/>
          </a:ln>
        </p:spPr>
        <p:txBody>
          <a:bodyPr spcFirstLastPara="1" wrap="square" lIns="121900" tIns="121900" rIns="121900" bIns="121900" anchor="ctr" anchorCtr="0">
            <a:noAutofit/>
          </a:bodyPr>
          <a:lstStyle/>
          <a:p>
            <a:endParaRPr sz="2533"/>
          </a:p>
        </p:txBody>
      </p:sp>
    </p:spTree>
    <p:extLst>
      <p:ext uri="{BB962C8B-B14F-4D97-AF65-F5344CB8AC3E}">
        <p14:creationId xmlns:p14="http://schemas.microsoft.com/office/powerpoint/2010/main" val="42108223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7"/>
          <p:cNvSpPr txBox="1">
            <a:spLocks noGrp="1"/>
          </p:cNvSpPr>
          <p:nvPr>
            <p:ph type="title"/>
          </p:nvPr>
        </p:nvSpPr>
        <p:spPr>
          <a:xfrm>
            <a:off x="517200" y="610700"/>
            <a:ext cx="11157600" cy="914800"/>
          </a:xfrm>
          <a:prstGeom prst="rect">
            <a:avLst/>
          </a:prstGeom>
        </p:spPr>
        <p:txBody>
          <a:bodyPr spcFirstLastPara="1" wrap="square" lIns="121900" tIns="121900" rIns="121900" bIns="121900" anchor="b" anchorCtr="0">
            <a:normAutofit/>
          </a:bodyPr>
          <a:lstStyle/>
          <a:p>
            <a:r>
              <a:rPr lang="en"/>
              <a:t>Brief Data Visualization</a:t>
            </a:r>
            <a:endParaRPr/>
          </a:p>
        </p:txBody>
      </p:sp>
      <p:sp>
        <p:nvSpPr>
          <p:cNvPr id="101" name="Google Shape;101;p17"/>
          <p:cNvSpPr txBox="1">
            <a:spLocks noGrp="1"/>
          </p:cNvSpPr>
          <p:nvPr>
            <p:ph type="body" idx="1"/>
          </p:nvPr>
        </p:nvSpPr>
        <p:spPr>
          <a:xfrm>
            <a:off x="309367" y="1823165"/>
            <a:ext cx="4618800" cy="706800"/>
          </a:xfrm>
          <a:prstGeom prst="rect">
            <a:avLst/>
          </a:prstGeom>
        </p:spPr>
        <p:txBody>
          <a:bodyPr spcFirstLastPara="1" wrap="square" lIns="121900" tIns="121900" rIns="121900" bIns="121900" anchor="t" anchorCtr="0">
            <a:normAutofit/>
          </a:bodyPr>
          <a:lstStyle/>
          <a:p>
            <a:pPr marL="0" indent="0">
              <a:spcAft>
                <a:spcPts val="1600"/>
              </a:spcAft>
              <a:buNone/>
            </a:pPr>
            <a:r>
              <a:rPr lang="en"/>
              <a:t>Bar plots: </a:t>
            </a:r>
            <a:endParaRPr/>
          </a:p>
        </p:txBody>
      </p:sp>
      <p:pic>
        <p:nvPicPr>
          <p:cNvPr id="102" name="Google Shape;102;p17"/>
          <p:cNvPicPr preferRelativeResize="0"/>
          <p:nvPr/>
        </p:nvPicPr>
        <p:blipFill rotWithShape="1">
          <a:blip r:embed="rId3">
            <a:alphaModFix/>
          </a:blip>
          <a:srcRect l="19251" t="2603" r="25410" b="-5516"/>
          <a:stretch/>
        </p:blipFill>
        <p:spPr>
          <a:xfrm>
            <a:off x="8817468" y="261218"/>
            <a:ext cx="3043033" cy="3607100"/>
          </a:xfrm>
          <a:prstGeom prst="rect">
            <a:avLst/>
          </a:prstGeom>
          <a:noFill/>
          <a:ln>
            <a:noFill/>
          </a:ln>
        </p:spPr>
      </p:pic>
      <p:pic>
        <p:nvPicPr>
          <p:cNvPr id="103" name="Google Shape;103;p17"/>
          <p:cNvPicPr preferRelativeResize="0"/>
          <p:nvPr/>
        </p:nvPicPr>
        <p:blipFill>
          <a:blip r:embed="rId4">
            <a:alphaModFix/>
          </a:blip>
          <a:stretch>
            <a:fillRect/>
          </a:stretch>
        </p:blipFill>
        <p:spPr>
          <a:xfrm>
            <a:off x="403734" y="2568033"/>
            <a:ext cx="4244767" cy="3966200"/>
          </a:xfrm>
          <a:prstGeom prst="rect">
            <a:avLst/>
          </a:prstGeom>
          <a:noFill/>
          <a:ln>
            <a:noFill/>
          </a:ln>
        </p:spPr>
      </p:pic>
      <p:pic>
        <p:nvPicPr>
          <p:cNvPr id="104" name="Google Shape;104;p17"/>
          <p:cNvPicPr preferRelativeResize="0"/>
          <p:nvPr/>
        </p:nvPicPr>
        <p:blipFill rotWithShape="1">
          <a:blip r:embed="rId5">
            <a:alphaModFix/>
          </a:blip>
          <a:srcRect/>
          <a:stretch/>
        </p:blipFill>
        <p:spPr>
          <a:xfrm>
            <a:off x="4794345" y="2529933"/>
            <a:ext cx="4345223" cy="3966200"/>
          </a:xfrm>
          <a:prstGeom prst="rect">
            <a:avLst/>
          </a:prstGeom>
          <a:noFill/>
          <a:ln>
            <a:noFill/>
          </a:ln>
        </p:spPr>
      </p:pic>
      <p:sp>
        <p:nvSpPr>
          <p:cNvPr id="105" name="Google Shape;105;p17"/>
          <p:cNvSpPr txBox="1"/>
          <p:nvPr/>
        </p:nvSpPr>
        <p:spPr>
          <a:xfrm>
            <a:off x="9285400" y="3868301"/>
            <a:ext cx="2575200" cy="2400617"/>
          </a:xfrm>
          <a:prstGeom prst="rect">
            <a:avLst/>
          </a:prstGeom>
          <a:noFill/>
          <a:ln w="9525" cap="flat" cmpd="sng">
            <a:solidFill>
              <a:schemeClr val="dk1"/>
            </a:solidFill>
            <a:prstDash val="solid"/>
            <a:round/>
            <a:headEnd type="none" w="sm" len="sm"/>
            <a:tailEnd type="none" w="sm" len="sm"/>
          </a:ln>
        </p:spPr>
        <p:txBody>
          <a:bodyPr spcFirstLastPara="1" wrap="square" lIns="121900" tIns="121900" rIns="121900" bIns="121900" anchor="t" anchorCtr="0">
            <a:spAutoFit/>
          </a:bodyPr>
          <a:lstStyle/>
          <a:p>
            <a:r>
              <a:rPr lang="en" sz="2000">
                <a:solidFill>
                  <a:schemeClr val="dk1"/>
                </a:solidFill>
                <a:latin typeface="Roboto"/>
                <a:ea typeface="Roboto"/>
                <a:cs typeface="Roboto"/>
                <a:sym typeface="Roboto"/>
              </a:rPr>
              <a:t>From the Graph above, We can see that 15 to 24 years old sleep most and 65 years and over sleeps second highest. </a:t>
            </a:r>
            <a:endParaRPr sz="2000">
              <a:solidFill>
                <a:schemeClr val="dk1"/>
              </a:solidFill>
              <a:latin typeface="Roboto"/>
              <a:ea typeface="Roboto"/>
              <a:cs typeface="Roboto"/>
              <a:sym typeface="Roboto"/>
            </a:endParaRPr>
          </a:p>
        </p:txBody>
      </p:sp>
    </p:spTree>
    <p:extLst>
      <p:ext uri="{BB962C8B-B14F-4D97-AF65-F5344CB8AC3E}">
        <p14:creationId xmlns:p14="http://schemas.microsoft.com/office/powerpoint/2010/main" val="21821037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18"/>
          <p:cNvSpPr txBox="1">
            <a:spLocks noGrp="1"/>
          </p:cNvSpPr>
          <p:nvPr>
            <p:ph type="title"/>
          </p:nvPr>
        </p:nvSpPr>
        <p:spPr>
          <a:xfrm>
            <a:off x="517200" y="610700"/>
            <a:ext cx="11157600" cy="914800"/>
          </a:xfrm>
          <a:prstGeom prst="rect">
            <a:avLst/>
          </a:prstGeom>
        </p:spPr>
        <p:txBody>
          <a:bodyPr spcFirstLastPara="1" wrap="square" lIns="121900" tIns="121900" rIns="121900" bIns="121900" anchor="b" anchorCtr="0">
            <a:normAutofit/>
          </a:bodyPr>
          <a:lstStyle/>
          <a:p>
            <a:r>
              <a:rPr lang="en"/>
              <a:t>Brief Data Visualization</a:t>
            </a:r>
            <a:endParaRPr/>
          </a:p>
        </p:txBody>
      </p:sp>
      <p:sp>
        <p:nvSpPr>
          <p:cNvPr id="111" name="Google Shape;111;p18"/>
          <p:cNvSpPr txBox="1">
            <a:spLocks noGrp="1"/>
          </p:cNvSpPr>
          <p:nvPr>
            <p:ph type="body" idx="1"/>
          </p:nvPr>
        </p:nvSpPr>
        <p:spPr>
          <a:xfrm>
            <a:off x="517200" y="1659099"/>
            <a:ext cx="11157600" cy="4105200"/>
          </a:xfrm>
          <a:prstGeom prst="rect">
            <a:avLst/>
          </a:prstGeom>
        </p:spPr>
        <p:txBody>
          <a:bodyPr spcFirstLastPara="1" wrap="square" lIns="121900" tIns="121900" rIns="121900" bIns="121900" anchor="t" anchorCtr="0">
            <a:normAutofit/>
          </a:bodyPr>
          <a:lstStyle/>
          <a:p>
            <a:pPr marL="0" indent="0">
              <a:spcAft>
                <a:spcPts val="1600"/>
              </a:spcAft>
              <a:buNone/>
            </a:pPr>
            <a:r>
              <a:rPr lang="en"/>
              <a:t>Stacked bar plot: </a:t>
            </a:r>
            <a:endParaRPr/>
          </a:p>
        </p:txBody>
      </p:sp>
      <p:pic>
        <p:nvPicPr>
          <p:cNvPr id="112" name="Google Shape;112;p18"/>
          <p:cNvPicPr preferRelativeResize="0"/>
          <p:nvPr/>
        </p:nvPicPr>
        <p:blipFill>
          <a:blip r:embed="rId3">
            <a:alphaModFix/>
          </a:blip>
          <a:stretch>
            <a:fillRect/>
          </a:stretch>
        </p:blipFill>
        <p:spPr>
          <a:xfrm>
            <a:off x="517200" y="2167766"/>
            <a:ext cx="4416733" cy="2834733"/>
          </a:xfrm>
          <a:prstGeom prst="rect">
            <a:avLst/>
          </a:prstGeom>
          <a:noFill/>
          <a:ln>
            <a:noFill/>
          </a:ln>
        </p:spPr>
      </p:pic>
      <p:pic>
        <p:nvPicPr>
          <p:cNvPr id="113" name="Google Shape;113;p18"/>
          <p:cNvPicPr preferRelativeResize="0"/>
          <p:nvPr/>
        </p:nvPicPr>
        <p:blipFill>
          <a:blip r:embed="rId4">
            <a:alphaModFix/>
          </a:blip>
          <a:stretch>
            <a:fillRect/>
          </a:stretch>
        </p:blipFill>
        <p:spPr>
          <a:xfrm>
            <a:off x="3894900" y="3815434"/>
            <a:ext cx="4766699" cy="3042567"/>
          </a:xfrm>
          <a:prstGeom prst="rect">
            <a:avLst/>
          </a:prstGeom>
          <a:noFill/>
          <a:ln>
            <a:noFill/>
          </a:ln>
        </p:spPr>
      </p:pic>
      <p:pic>
        <p:nvPicPr>
          <p:cNvPr id="114" name="Google Shape;114;p18"/>
          <p:cNvPicPr preferRelativeResize="0"/>
          <p:nvPr/>
        </p:nvPicPr>
        <p:blipFill>
          <a:blip r:embed="rId5">
            <a:alphaModFix/>
          </a:blip>
          <a:stretch>
            <a:fillRect/>
          </a:stretch>
        </p:blipFill>
        <p:spPr>
          <a:xfrm>
            <a:off x="7586301" y="980700"/>
            <a:ext cx="4409585" cy="2834733"/>
          </a:xfrm>
          <a:prstGeom prst="rect">
            <a:avLst/>
          </a:prstGeom>
          <a:noFill/>
          <a:ln>
            <a:noFill/>
          </a:ln>
        </p:spPr>
      </p:pic>
    </p:spTree>
    <p:extLst>
      <p:ext uri="{BB962C8B-B14F-4D97-AF65-F5344CB8AC3E}">
        <p14:creationId xmlns:p14="http://schemas.microsoft.com/office/powerpoint/2010/main" val="27314559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19"/>
          <p:cNvSpPr txBox="1">
            <a:spLocks noGrp="1"/>
          </p:cNvSpPr>
          <p:nvPr>
            <p:ph type="title"/>
          </p:nvPr>
        </p:nvSpPr>
        <p:spPr>
          <a:xfrm>
            <a:off x="517200" y="610700"/>
            <a:ext cx="11157600" cy="914800"/>
          </a:xfrm>
          <a:prstGeom prst="rect">
            <a:avLst/>
          </a:prstGeom>
        </p:spPr>
        <p:txBody>
          <a:bodyPr spcFirstLastPara="1" wrap="square" lIns="121900" tIns="121900" rIns="121900" bIns="121900" anchor="b" anchorCtr="0">
            <a:normAutofit/>
          </a:bodyPr>
          <a:lstStyle/>
          <a:p>
            <a:r>
              <a:rPr lang="en"/>
              <a:t>Brief Data Visualization</a:t>
            </a:r>
            <a:endParaRPr/>
          </a:p>
        </p:txBody>
      </p:sp>
      <p:sp>
        <p:nvSpPr>
          <p:cNvPr id="120" name="Google Shape;120;p19"/>
          <p:cNvSpPr txBox="1">
            <a:spLocks noGrp="1"/>
          </p:cNvSpPr>
          <p:nvPr>
            <p:ph type="body" idx="1"/>
          </p:nvPr>
        </p:nvSpPr>
        <p:spPr>
          <a:xfrm>
            <a:off x="517200" y="1630165"/>
            <a:ext cx="11157600" cy="4105200"/>
          </a:xfrm>
          <a:prstGeom prst="rect">
            <a:avLst/>
          </a:prstGeom>
        </p:spPr>
        <p:txBody>
          <a:bodyPr spcFirstLastPara="1" wrap="square" lIns="121900" tIns="121900" rIns="121900" bIns="121900" anchor="t" anchorCtr="0">
            <a:normAutofit/>
          </a:bodyPr>
          <a:lstStyle/>
          <a:p>
            <a:pPr marL="0" indent="0">
              <a:spcAft>
                <a:spcPts val="1600"/>
              </a:spcAft>
              <a:buNone/>
            </a:pPr>
            <a:r>
              <a:rPr lang="en"/>
              <a:t>Jitter plot: </a:t>
            </a:r>
            <a:endParaRPr/>
          </a:p>
        </p:txBody>
      </p:sp>
      <p:pic>
        <p:nvPicPr>
          <p:cNvPr id="121" name="Google Shape;121;p19"/>
          <p:cNvPicPr preferRelativeResize="0"/>
          <p:nvPr/>
        </p:nvPicPr>
        <p:blipFill>
          <a:blip r:embed="rId3">
            <a:alphaModFix/>
          </a:blip>
          <a:stretch>
            <a:fillRect/>
          </a:stretch>
        </p:blipFill>
        <p:spPr>
          <a:xfrm>
            <a:off x="2179734" y="1782733"/>
            <a:ext cx="6397932" cy="4466667"/>
          </a:xfrm>
          <a:prstGeom prst="rect">
            <a:avLst/>
          </a:prstGeom>
          <a:noFill/>
          <a:ln>
            <a:noFill/>
          </a:ln>
        </p:spPr>
      </p:pic>
      <p:sp>
        <p:nvSpPr>
          <p:cNvPr id="122" name="Google Shape;122;p19"/>
          <p:cNvSpPr txBox="1"/>
          <p:nvPr/>
        </p:nvSpPr>
        <p:spPr>
          <a:xfrm>
            <a:off x="8965867" y="4175767"/>
            <a:ext cx="2553200" cy="1559104"/>
          </a:xfrm>
          <a:prstGeom prst="rect">
            <a:avLst/>
          </a:prstGeom>
          <a:noFill/>
          <a:ln w="9525" cap="flat" cmpd="sng">
            <a:solidFill>
              <a:schemeClr val="dk1"/>
            </a:solidFill>
            <a:prstDash val="solid"/>
            <a:round/>
            <a:headEnd type="none" w="sm" len="sm"/>
            <a:tailEnd type="none" w="sm" len="sm"/>
          </a:ln>
        </p:spPr>
        <p:txBody>
          <a:bodyPr spcFirstLastPara="1" wrap="square" lIns="121900" tIns="121900" rIns="121900" bIns="121900" anchor="t" anchorCtr="0">
            <a:spAutoFit/>
          </a:bodyPr>
          <a:lstStyle/>
          <a:p>
            <a:r>
              <a:rPr lang="en" sz="2133">
                <a:solidFill>
                  <a:schemeClr val="dk1"/>
                </a:solidFill>
                <a:latin typeface="Roboto"/>
                <a:ea typeface="Roboto"/>
                <a:cs typeface="Roboto"/>
                <a:sym typeface="Roboto"/>
              </a:rPr>
              <a:t>Weekdays sleep less, weekend and holidays sleep more. </a:t>
            </a:r>
            <a:endParaRPr sz="2133">
              <a:solidFill>
                <a:schemeClr val="dk1"/>
              </a:solidFill>
              <a:latin typeface="Roboto"/>
              <a:ea typeface="Roboto"/>
              <a:cs typeface="Roboto"/>
              <a:sym typeface="Roboto"/>
            </a:endParaRPr>
          </a:p>
        </p:txBody>
      </p:sp>
    </p:spTree>
    <p:extLst>
      <p:ext uri="{BB962C8B-B14F-4D97-AF65-F5344CB8AC3E}">
        <p14:creationId xmlns:p14="http://schemas.microsoft.com/office/powerpoint/2010/main" val="2210405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0"/>
          <p:cNvSpPr txBox="1">
            <a:spLocks noGrp="1"/>
          </p:cNvSpPr>
          <p:nvPr>
            <p:ph type="title"/>
          </p:nvPr>
        </p:nvSpPr>
        <p:spPr>
          <a:xfrm>
            <a:off x="517200" y="610700"/>
            <a:ext cx="11157600" cy="914800"/>
          </a:xfrm>
          <a:prstGeom prst="rect">
            <a:avLst/>
          </a:prstGeom>
        </p:spPr>
        <p:txBody>
          <a:bodyPr spcFirstLastPara="1" wrap="square" lIns="121900" tIns="121900" rIns="121900" bIns="121900" anchor="b" anchorCtr="0">
            <a:normAutofit/>
          </a:bodyPr>
          <a:lstStyle/>
          <a:p>
            <a:r>
              <a:rPr lang="en"/>
              <a:t>BEST LINEAR MODEL</a:t>
            </a:r>
            <a:endParaRPr/>
          </a:p>
        </p:txBody>
      </p:sp>
      <p:sp>
        <p:nvSpPr>
          <p:cNvPr id="128" name="Google Shape;128;p20"/>
          <p:cNvSpPr txBox="1">
            <a:spLocks noGrp="1"/>
          </p:cNvSpPr>
          <p:nvPr>
            <p:ph type="body" idx="1"/>
          </p:nvPr>
        </p:nvSpPr>
        <p:spPr>
          <a:xfrm>
            <a:off x="517200" y="1986432"/>
            <a:ext cx="11157600" cy="4105200"/>
          </a:xfrm>
          <a:prstGeom prst="rect">
            <a:avLst/>
          </a:prstGeom>
        </p:spPr>
        <p:txBody>
          <a:bodyPr spcFirstLastPara="1" wrap="square" lIns="121900" tIns="121900" rIns="121900" bIns="121900" anchor="t" anchorCtr="0">
            <a:normAutofit/>
          </a:bodyPr>
          <a:lstStyle/>
          <a:p>
            <a:pPr marL="0" indent="0">
              <a:buNone/>
            </a:pPr>
            <a:r>
              <a:rPr lang="en"/>
              <a:t>All possible regression </a:t>
            </a:r>
            <a:endParaRPr/>
          </a:p>
          <a:p>
            <a:pPr marL="0" indent="0">
              <a:spcBef>
                <a:spcPts val="1600"/>
              </a:spcBef>
              <a:buNone/>
            </a:pPr>
            <a:endParaRPr/>
          </a:p>
          <a:p>
            <a:pPr marL="0" indent="0">
              <a:spcBef>
                <a:spcPts val="1600"/>
              </a:spcBef>
              <a:spcAft>
                <a:spcPts val="1600"/>
              </a:spcAft>
              <a:buNone/>
            </a:pPr>
            <a:r>
              <a:rPr lang="en"/>
              <a:t> </a:t>
            </a:r>
            <a:endParaRPr/>
          </a:p>
        </p:txBody>
      </p:sp>
      <p:pic>
        <p:nvPicPr>
          <p:cNvPr id="129" name="Google Shape;129;p20"/>
          <p:cNvPicPr preferRelativeResize="0"/>
          <p:nvPr/>
        </p:nvPicPr>
        <p:blipFill rotWithShape="1">
          <a:blip r:embed="rId3">
            <a:alphaModFix/>
          </a:blip>
          <a:srcRect r="15718"/>
          <a:stretch/>
        </p:blipFill>
        <p:spPr>
          <a:xfrm>
            <a:off x="517201" y="3242801"/>
            <a:ext cx="5464967" cy="3003167"/>
          </a:xfrm>
          <a:prstGeom prst="rect">
            <a:avLst/>
          </a:prstGeom>
          <a:noFill/>
          <a:ln>
            <a:noFill/>
          </a:ln>
        </p:spPr>
      </p:pic>
      <p:pic>
        <p:nvPicPr>
          <p:cNvPr id="130" name="Google Shape;130;p20"/>
          <p:cNvPicPr preferRelativeResize="0"/>
          <p:nvPr/>
        </p:nvPicPr>
        <p:blipFill>
          <a:blip r:embed="rId4">
            <a:alphaModFix/>
          </a:blip>
          <a:stretch>
            <a:fillRect/>
          </a:stretch>
        </p:blipFill>
        <p:spPr>
          <a:xfrm>
            <a:off x="6159167" y="703069"/>
            <a:ext cx="5850567" cy="3461300"/>
          </a:xfrm>
          <a:prstGeom prst="rect">
            <a:avLst/>
          </a:prstGeom>
          <a:noFill/>
          <a:ln>
            <a:noFill/>
          </a:ln>
        </p:spPr>
      </p:pic>
      <p:sp>
        <p:nvSpPr>
          <p:cNvPr id="131" name="Google Shape;131;p20"/>
          <p:cNvSpPr txBox="1"/>
          <p:nvPr/>
        </p:nvSpPr>
        <p:spPr>
          <a:xfrm>
            <a:off x="5692967" y="2007833"/>
            <a:ext cx="4759200" cy="635968"/>
          </a:xfrm>
          <a:prstGeom prst="rect">
            <a:avLst/>
          </a:prstGeom>
          <a:noFill/>
          <a:ln>
            <a:noFill/>
          </a:ln>
        </p:spPr>
        <p:txBody>
          <a:bodyPr spcFirstLastPara="1" wrap="square" lIns="121900" tIns="121900" rIns="121900" bIns="121900" anchor="t" anchorCtr="0">
            <a:spAutoFit/>
          </a:bodyPr>
          <a:lstStyle/>
          <a:p>
            <a:endParaRPr sz="2533">
              <a:latin typeface="Roboto"/>
              <a:ea typeface="Roboto"/>
              <a:cs typeface="Roboto"/>
              <a:sym typeface="Roboto"/>
            </a:endParaRPr>
          </a:p>
        </p:txBody>
      </p:sp>
      <p:sp>
        <p:nvSpPr>
          <p:cNvPr id="132" name="Google Shape;132;p20"/>
          <p:cNvSpPr/>
          <p:nvPr/>
        </p:nvSpPr>
        <p:spPr>
          <a:xfrm>
            <a:off x="1008200" y="6021567"/>
            <a:ext cx="252400" cy="224400"/>
          </a:xfrm>
          <a:prstGeom prst="ellipse">
            <a:avLst/>
          </a:prstGeom>
          <a:noFill/>
          <a:ln w="9525" cap="flat" cmpd="sng">
            <a:solidFill>
              <a:srgbClr val="FF0000"/>
            </a:solidFill>
            <a:prstDash val="solid"/>
            <a:round/>
            <a:headEnd type="none" w="sm" len="sm"/>
            <a:tailEnd type="none" w="sm" len="sm"/>
          </a:ln>
        </p:spPr>
        <p:txBody>
          <a:bodyPr spcFirstLastPara="1" wrap="square" lIns="121900" tIns="121900" rIns="121900" bIns="121900" anchor="ctr" anchorCtr="0">
            <a:noAutofit/>
          </a:bodyPr>
          <a:lstStyle/>
          <a:p>
            <a:endParaRPr sz="2533"/>
          </a:p>
        </p:txBody>
      </p:sp>
      <p:sp>
        <p:nvSpPr>
          <p:cNvPr id="133" name="Google Shape;133;p20"/>
          <p:cNvSpPr/>
          <p:nvPr/>
        </p:nvSpPr>
        <p:spPr>
          <a:xfrm>
            <a:off x="1084400" y="3429000"/>
            <a:ext cx="252400" cy="224400"/>
          </a:xfrm>
          <a:prstGeom prst="ellipse">
            <a:avLst/>
          </a:prstGeom>
          <a:noFill/>
          <a:ln w="9525" cap="flat" cmpd="sng">
            <a:solidFill>
              <a:srgbClr val="FF0000"/>
            </a:solidFill>
            <a:prstDash val="solid"/>
            <a:round/>
            <a:headEnd type="none" w="sm" len="sm"/>
            <a:tailEnd type="none" w="sm" len="sm"/>
          </a:ln>
        </p:spPr>
        <p:txBody>
          <a:bodyPr spcFirstLastPara="1" wrap="square" lIns="121900" tIns="121900" rIns="121900" bIns="121900" anchor="ctr" anchorCtr="0">
            <a:noAutofit/>
          </a:bodyPr>
          <a:lstStyle/>
          <a:p>
            <a:endParaRPr sz="2533"/>
          </a:p>
        </p:txBody>
      </p:sp>
      <p:sp>
        <p:nvSpPr>
          <p:cNvPr id="134" name="Google Shape;134;p20"/>
          <p:cNvSpPr/>
          <p:nvPr/>
        </p:nvSpPr>
        <p:spPr>
          <a:xfrm>
            <a:off x="1008200" y="4164367"/>
            <a:ext cx="252400" cy="224400"/>
          </a:xfrm>
          <a:prstGeom prst="ellipse">
            <a:avLst/>
          </a:prstGeom>
          <a:noFill/>
          <a:ln w="9525" cap="flat" cmpd="sng">
            <a:solidFill>
              <a:srgbClr val="FF0000"/>
            </a:solidFill>
            <a:prstDash val="solid"/>
            <a:round/>
            <a:headEnd type="none" w="sm" len="sm"/>
            <a:tailEnd type="none" w="sm" len="sm"/>
          </a:ln>
        </p:spPr>
        <p:txBody>
          <a:bodyPr spcFirstLastPara="1" wrap="square" lIns="121900" tIns="121900" rIns="121900" bIns="121900" anchor="ctr" anchorCtr="0">
            <a:noAutofit/>
          </a:bodyPr>
          <a:lstStyle/>
          <a:p>
            <a:endParaRPr sz="2533"/>
          </a:p>
        </p:txBody>
      </p:sp>
      <p:sp>
        <p:nvSpPr>
          <p:cNvPr id="135" name="Google Shape;135;p20"/>
          <p:cNvSpPr/>
          <p:nvPr/>
        </p:nvSpPr>
        <p:spPr>
          <a:xfrm>
            <a:off x="1008200" y="5292067"/>
            <a:ext cx="252400" cy="224400"/>
          </a:xfrm>
          <a:prstGeom prst="ellipse">
            <a:avLst/>
          </a:prstGeom>
          <a:noFill/>
          <a:ln w="9525" cap="flat" cmpd="sng">
            <a:solidFill>
              <a:srgbClr val="FF0000"/>
            </a:solidFill>
            <a:prstDash val="solid"/>
            <a:round/>
            <a:headEnd type="none" w="sm" len="sm"/>
            <a:tailEnd type="none" w="sm" len="sm"/>
          </a:ln>
        </p:spPr>
        <p:txBody>
          <a:bodyPr spcFirstLastPara="1" wrap="square" lIns="121900" tIns="121900" rIns="121900" bIns="121900" anchor="ctr" anchorCtr="0">
            <a:noAutofit/>
          </a:bodyPr>
          <a:lstStyle/>
          <a:p>
            <a:endParaRPr sz="2533"/>
          </a:p>
        </p:txBody>
      </p:sp>
    </p:spTree>
    <p:extLst>
      <p:ext uri="{BB962C8B-B14F-4D97-AF65-F5344CB8AC3E}">
        <p14:creationId xmlns:p14="http://schemas.microsoft.com/office/powerpoint/2010/main" val="37835086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1"/>
          <p:cNvSpPr txBox="1">
            <a:spLocks noGrp="1"/>
          </p:cNvSpPr>
          <p:nvPr>
            <p:ph type="title"/>
          </p:nvPr>
        </p:nvSpPr>
        <p:spPr>
          <a:xfrm>
            <a:off x="517200" y="610700"/>
            <a:ext cx="11157600" cy="914800"/>
          </a:xfrm>
          <a:prstGeom prst="rect">
            <a:avLst/>
          </a:prstGeom>
        </p:spPr>
        <p:txBody>
          <a:bodyPr spcFirstLastPara="1" wrap="square" lIns="121900" tIns="121900" rIns="121900" bIns="121900" anchor="b" anchorCtr="0">
            <a:normAutofit/>
          </a:bodyPr>
          <a:lstStyle/>
          <a:p>
            <a:endParaRPr/>
          </a:p>
        </p:txBody>
      </p:sp>
      <p:sp>
        <p:nvSpPr>
          <p:cNvPr id="141" name="Google Shape;141;p21"/>
          <p:cNvSpPr txBox="1">
            <a:spLocks noGrp="1"/>
          </p:cNvSpPr>
          <p:nvPr>
            <p:ph type="body" idx="1"/>
          </p:nvPr>
        </p:nvSpPr>
        <p:spPr>
          <a:xfrm>
            <a:off x="517200" y="1986433"/>
            <a:ext cx="11157600" cy="4537600"/>
          </a:xfrm>
          <a:prstGeom prst="rect">
            <a:avLst/>
          </a:prstGeom>
        </p:spPr>
        <p:txBody>
          <a:bodyPr spcFirstLastPara="1" wrap="square" lIns="121900" tIns="121900" rIns="121900" bIns="121900" anchor="t" anchorCtr="0">
            <a:normAutofit/>
          </a:bodyPr>
          <a:lstStyle/>
          <a:p>
            <a:pPr marL="0" indent="0">
              <a:buNone/>
            </a:pPr>
            <a:endParaRPr/>
          </a:p>
          <a:p>
            <a:pPr marL="0" indent="0">
              <a:spcBef>
                <a:spcPts val="1600"/>
              </a:spcBef>
              <a:buNone/>
            </a:pPr>
            <a:endParaRPr/>
          </a:p>
          <a:p>
            <a:pPr marL="0" indent="0">
              <a:spcBef>
                <a:spcPts val="1600"/>
              </a:spcBef>
              <a:buNone/>
            </a:pPr>
            <a:endParaRPr/>
          </a:p>
          <a:p>
            <a:pPr marL="0" indent="0">
              <a:spcBef>
                <a:spcPts val="1600"/>
              </a:spcBef>
              <a:buNone/>
            </a:pPr>
            <a:endParaRPr/>
          </a:p>
          <a:p>
            <a:pPr marL="0" indent="0">
              <a:spcBef>
                <a:spcPts val="1600"/>
              </a:spcBef>
              <a:buNone/>
            </a:pPr>
            <a:endParaRPr/>
          </a:p>
          <a:p>
            <a:pPr marL="0" indent="0">
              <a:spcBef>
                <a:spcPts val="1600"/>
              </a:spcBef>
              <a:buNone/>
            </a:pPr>
            <a:r>
              <a:rPr lang="en"/>
              <a:t>Look at the AIC and Adj. R-Squared for model index 4!</a:t>
            </a:r>
            <a:endParaRPr/>
          </a:p>
          <a:p>
            <a:pPr marL="0" indent="0">
              <a:spcBef>
                <a:spcPts val="1600"/>
              </a:spcBef>
              <a:spcAft>
                <a:spcPts val="1600"/>
              </a:spcAft>
              <a:buNone/>
            </a:pPr>
            <a:r>
              <a:rPr lang="en"/>
              <a:t>Best linear regression model contains all variables </a:t>
            </a:r>
            <a:endParaRPr/>
          </a:p>
        </p:txBody>
      </p:sp>
      <p:pic>
        <p:nvPicPr>
          <p:cNvPr id="142" name="Google Shape;142;p21"/>
          <p:cNvPicPr preferRelativeResize="0"/>
          <p:nvPr/>
        </p:nvPicPr>
        <p:blipFill>
          <a:blip r:embed="rId3">
            <a:alphaModFix/>
          </a:blip>
          <a:stretch>
            <a:fillRect/>
          </a:stretch>
        </p:blipFill>
        <p:spPr>
          <a:xfrm>
            <a:off x="517200" y="1108367"/>
            <a:ext cx="10760835" cy="3673167"/>
          </a:xfrm>
          <a:prstGeom prst="rect">
            <a:avLst/>
          </a:prstGeom>
          <a:noFill/>
          <a:ln>
            <a:noFill/>
          </a:ln>
        </p:spPr>
      </p:pic>
      <p:sp>
        <p:nvSpPr>
          <p:cNvPr id="143" name="Google Shape;143;p21"/>
          <p:cNvSpPr/>
          <p:nvPr/>
        </p:nvSpPr>
        <p:spPr>
          <a:xfrm>
            <a:off x="855800" y="2371067"/>
            <a:ext cx="252400" cy="224400"/>
          </a:xfrm>
          <a:prstGeom prst="ellipse">
            <a:avLst/>
          </a:prstGeom>
          <a:noFill/>
          <a:ln w="9525" cap="flat" cmpd="sng">
            <a:solidFill>
              <a:srgbClr val="FF0000"/>
            </a:solidFill>
            <a:prstDash val="solid"/>
            <a:round/>
            <a:headEnd type="none" w="sm" len="sm"/>
            <a:tailEnd type="none" w="sm" len="sm"/>
          </a:ln>
        </p:spPr>
        <p:txBody>
          <a:bodyPr spcFirstLastPara="1" wrap="square" lIns="121900" tIns="121900" rIns="121900" bIns="121900" anchor="ctr" anchorCtr="0">
            <a:noAutofit/>
          </a:bodyPr>
          <a:lstStyle/>
          <a:p>
            <a:endParaRPr sz="2533"/>
          </a:p>
        </p:txBody>
      </p:sp>
      <p:sp>
        <p:nvSpPr>
          <p:cNvPr id="144" name="Google Shape;144;p21"/>
          <p:cNvSpPr/>
          <p:nvPr/>
        </p:nvSpPr>
        <p:spPr>
          <a:xfrm>
            <a:off x="603400" y="4396833"/>
            <a:ext cx="252400" cy="224400"/>
          </a:xfrm>
          <a:prstGeom prst="ellipse">
            <a:avLst/>
          </a:prstGeom>
          <a:noFill/>
          <a:ln w="9525" cap="flat" cmpd="sng">
            <a:solidFill>
              <a:srgbClr val="FF0000"/>
            </a:solidFill>
            <a:prstDash val="solid"/>
            <a:round/>
            <a:headEnd type="none" w="sm" len="sm"/>
            <a:tailEnd type="none" w="sm" len="sm"/>
          </a:ln>
        </p:spPr>
        <p:txBody>
          <a:bodyPr spcFirstLastPara="1" wrap="square" lIns="121900" tIns="121900" rIns="121900" bIns="121900" anchor="ctr" anchorCtr="0">
            <a:noAutofit/>
          </a:bodyPr>
          <a:lstStyle/>
          <a:p>
            <a:endParaRPr sz="2533"/>
          </a:p>
        </p:txBody>
      </p:sp>
    </p:spTree>
    <p:extLst>
      <p:ext uri="{BB962C8B-B14F-4D97-AF65-F5344CB8AC3E}">
        <p14:creationId xmlns:p14="http://schemas.microsoft.com/office/powerpoint/2010/main" val="34208580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22"/>
          <p:cNvSpPr txBox="1">
            <a:spLocks noGrp="1"/>
          </p:cNvSpPr>
          <p:nvPr>
            <p:ph type="title"/>
          </p:nvPr>
        </p:nvSpPr>
        <p:spPr>
          <a:xfrm>
            <a:off x="517200" y="610700"/>
            <a:ext cx="11157600" cy="914800"/>
          </a:xfrm>
          <a:prstGeom prst="rect">
            <a:avLst/>
          </a:prstGeom>
        </p:spPr>
        <p:txBody>
          <a:bodyPr spcFirstLastPara="1" wrap="square" lIns="121900" tIns="121900" rIns="121900" bIns="121900" anchor="b" anchorCtr="0">
            <a:normAutofit/>
          </a:bodyPr>
          <a:lstStyle/>
          <a:p>
            <a:r>
              <a:rPr lang="en"/>
              <a:t>Train and test dataset</a:t>
            </a:r>
            <a:endParaRPr/>
          </a:p>
        </p:txBody>
      </p:sp>
      <p:sp>
        <p:nvSpPr>
          <p:cNvPr id="150" name="Google Shape;150;p22"/>
          <p:cNvSpPr/>
          <p:nvPr/>
        </p:nvSpPr>
        <p:spPr>
          <a:xfrm>
            <a:off x="1025200" y="1831433"/>
            <a:ext cx="9652000" cy="28744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nSpc>
                <a:spcPct val="150000"/>
              </a:lnSpc>
            </a:pPr>
            <a:r>
              <a:rPr lang="en" sz="2133" b="1">
                <a:solidFill>
                  <a:schemeClr val="dk2"/>
                </a:solidFill>
                <a:latin typeface="Roboto Slab"/>
                <a:ea typeface="Roboto Slab"/>
                <a:cs typeface="Roboto Slab"/>
                <a:sym typeface="Roboto Slab"/>
              </a:rPr>
              <a:t>Predict the average hours of sleep for the next year using:</a:t>
            </a:r>
            <a:endParaRPr sz="2133" b="1">
              <a:solidFill>
                <a:schemeClr val="dk2"/>
              </a:solidFill>
              <a:latin typeface="Roboto Slab"/>
              <a:ea typeface="Roboto Slab"/>
              <a:cs typeface="Roboto Slab"/>
              <a:sym typeface="Roboto Slab"/>
            </a:endParaRPr>
          </a:p>
          <a:p>
            <a:pPr marL="1219170" lvl="1" indent="-440256">
              <a:lnSpc>
                <a:spcPct val="150000"/>
              </a:lnSpc>
              <a:buClr>
                <a:schemeClr val="dk2"/>
              </a:buClr>
              <a:buSzPts val="1600"/>
              <a:buFont typeface="Roboto Slab"/>
              <a:buChar char="-"/>
            </a:pPr>
            <a:r>
              <a:rPr lang="en" sz="2133" b="1">
                <a:solidFill>
                  <a:schemeClr val="dk2"/>
                </a:solidFill>
                <a:latin typeface="Roboto Slab"/>
                <a:ea typeface="Roboto Slab"/>
                <a:cs typeface="Roboto Slab"/>
                <a:sym typeface="Roboto Slab"/>
              </a:rPr>
              <a:t>Test data→ without data from last year 2017 (882 observations)</a:t>
            </a:r>
            <a:endParaRPr sz="2133" b="1">
              <a:solidFill>
                <a:schemeClr val="dk2"/>
              </a:solidFill>
              <a:latin typeface="Roboto Slab"/>
              <a:ea typeface="Roboto Slab"/>
              <a:cs typeface="Roboto Slab"/>
              <a:sym typeface="Roboto Slab"/>
            </a:endParaRPr>
          </a:p>
          <a:p>
            <a:pPr marL="1219170" lvl="1" indent="-440256">
              <a:lnSpc>
                <a:spcPct val="150000"/>
              </a:lnSpc>
              <a:buClr>
                <a:schemeClr val="dk2"/>
              </a:buClr>
              <a:buSzPts val="1600"/>
              <a:buFont typeface="Roboto Slab"/>
              <a:buChar char="-"/>
            </a:pPr>
            <a:r>
              <a:rPr lang="en" sz="2133" b="1">
                <a:solidFill>
                  <a:schemeClr val="dk2"/>
                </a:solidFill>
                <a:latin typeface="Roboto Slab"/>
                <a:ea typeface="Roboto Slab"/>
                <a:cs typeface="Roboto Slab"/>
                <a:sym typeface="Roboto Slab"/>
              </a:rPr>
              <a:t>Train data→ data with the year 2017 (63 observations)</a:t>
            </a:r>
            <a:endParaRPr sz="2133" b="1">
              <a:solidFill>
                <a:schemeClr val="dk2"/>
              </a:solidFill>
              <a:latin typeface="Roboto Slab"/>
              <a:ea typeface="Roboto Slab"/>
              <a:cs typeface="Roboto Slab"/>
              <a:sym typeface="Roboto Slab"/>
            </a:endParaRPr>
          </a:p>
          <a:p>
            <a:endParaRPr sz="2533" b="1">
              <a:solidFill>
                <a:schemeClr val="dk2"/>
              </a:solidFill>
            </a:endParaRPr>
          </a:p>
        </p:txBody>
      </p:sp>
    </p:spTree>
    <p:extLst>
      <p:ext uri="{BB962C8B-B14F-4D97-AF65-F5344CB8AC3E}">
        <p14:creationId xmlns:p14="http://schemas.microsoft.com/office/powerpoint/2010/main" val="17594629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23"/>
          <p:cNvSpPr txBox="1">
            <a:spLocks noGrp="1"/>
          </p:cNvSpPr>
          <p:nvPr>
            <p:ph type="title"/>
          </p:nvPr>
        </p:nvSpPr>
        <p:spPr>
          <a:xfrm>
            <a:off x="517200" y="384633"/>
            <a:ext cx="11157600" cy="914800"/>
          </a:xfrm>
          <a:prstGeom prst="rect">
            <a:avLst/>
          </a:prstGeom>
        </p:spPr>
        <p:txBody>
          <a:bodyPr spcFirstLastPara="1" wrap="square" lIns="121900" tIns="121900" rIns="121900" bIns="121900" anchor="b" anchorCtr="0">
            <a:normAutofit/>
          </a:bodyPr>
          <a:lstStyle/>
          <a:p>
            <a:r>
              <a:rPr lang="en"/>
              <a:t>Tree</a:t>
            </a:r>
            <a:endParaRPr/>
          </a:p>
        </p:txBody>
      </p:sp>
      <p:pic>
        <p:nvPicPr>
          <p:cNvPr id="156" name="Google Shape;156;p23"/>
          <p:cNvPicPr preferRelativeResize="0"/>
          <p:nvPr/>
        </p:nvPicPr>
        <p:blipFill>
          <a:blip r:embed="rId3">
            <a:alphaModFix/>
          </a:blip>
          <a:stretch>
            <a:fillRect/>
          </a:stretch>
        </p:blipFill>
        <p:spPr>
          <a:xfrm>
            <a:off x="1626768" y="1299433"/>
            <a:ext cx="8804049" cy="4224000"/>
          </a:xfrm>
          <a:prstGeom prst="rect">
            <a:avLst/>
          </a:prstGeom>
          <a:noFill/>
          <a:ln>
            <a:noFill/>
          </a:ln>
        </p:spPr>
      </p:pic>
      <p:sp>
        <p:nvSpPr>
          <p:cNvPr id="157" name="Google Shape;157;p23"/>
          <p:cNvSpPr txBox="1"/>
          <p:nvPr/>
        </p:nvSpPr>
        <p:spPr>
          <a:xfrm>
            <a:off x="1793700" y="5701534"/>
            <a:ext cx="8804000" cy="812490"/>
          </a:xfrm>
          <a:prstGeom prst="rect">
            <a:avLst/>
          </a:prstGeom>
          <a:noFill/>
          <a:ln>
            <a:noFill/>
          </a:ln>
        </p:spPr>
        <p:txBody>
          <a:bodyPr spcFirstLastPara="1" wrap="square" lIns="121900" tIns="121900" rIns="121900" bIns="121900" anchor="t" anchorCtr="0">
            <a:spAutoFit/>
          </a:bodyPr>
          <a:lstStyle/>
          <a:p>
            <a:pPr>
              <a:lnSpc>
                <a:spcPct val="115000"/>
              </a:lnSpc>
            </a:pPr>
            <a:r>
              <a:rPr lang="en" sz="1600" b="1">
                <a:solidFill>
                  <a:schemeClr val="dk1"/>
                </a:solidFill>
              </a:rPr>
              <a:t>The 15 to 24 years age group has average sleep hours &gt;8.9, about 9.9 (taking 14% of the total population from all age groups).</a:t>
            </a:r>
            <a:endParaRPr sz="2533" b="1">
              <a:solidFill>
                <a:schemeClr val="dk1"/>
              </a:solidFill>
              <a:latin typeface="Roboto"/>
              <a:ea typeface="Roboto"/>
              <a:cs typeface="Roboto"/>
              <a:sym typeface="Roboto"/>
            </a:endParaRPr>
          </a:p>
        </p:txBody>
      </p:sp>
    </p:spTree>
    <p:extLst>
      <p:ext uri="{BB962C8B-B14F-4D97-AF65-F5344CB8AC3E}">
        <p14:creationId xmlns:p14="http://schemas.microsoft.com/office/powerpoint/2010/main" val="6029693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24"/>
          <p:cNvSpPr txBox="1">
            <a:spLocks noGrp="1"/>
          </p:cNvSpPr>
          <p:nvPr>
            <p:ph type="title"/>
          </p:nvPr>
        </p:nvSpPr>
        <p:spPr>
          <a:xfrm>
            <a:off x="517200" y="610700"/>
            <a:ext cx="11157600" cy="914800"/>
          </a:xfrm>
          <a:prstGeom prst="rect">
            <a:avLst/>
          </a:prstGeom>
        </p:spPr>
        <p:txBody>
          <a:bodyPr spcFirstLastPara="1" wrap="square" lIns="121900" tIns="121900" rIns="121900" bIns="121900" anchor="b" anchorCtr="0">
            <a:normAutofit/>
          </a:bodyPr>
          <a:lstStyle/>
          <a:p>
            <a:pPr>
              <a:lnSpc>
                <a:spcPct val="115000"/>
              </a:lnSpc>
            </a:pPr>
            <a:r>
              <a:rPr lang="en"/>
              <a:t>Random Forest</a:t>
            </a:r>
            <a:endParaRPr/>
          </a:p>
        </p:txBody>
      </p:sp>
      <p:sp>
        <p:nvSpPr>
          <p:cNvPr id="163" name="Google Shape;163;p24"/>
          <p:cNvSpPr txBox="1">
            <a:spLocks noGrp="1"/>
          </p:cNvSpPr>
          <p:nvPr>
            <p:ph type="body" idx="1"/>
          </p:nvPr>
        </p:nvSpPr>
        <p:spPr>
          <a:xfrm>
            <a:off x="517200" y="1986432"/>
            <a:ext cx="11157600" cy="4105200"/>
          </a:xfrm>
          <a:prstGeom prst="rect">
            <a:avLst/>
          </a:prstGeom>
        </p:spPr>
        <p:txBody>
          <a:bodyPr spcFirstLastPara="1" wrap="square" lIns="121900" tIns="121900" rIns="121900" bIns="121900" anchor="t" anchorCtr="0">
            <a:normAutofit/>
          </a:bodyPr>
          <a:lstStyle/>
          <a:p>
            <a:pPr marL="0" indent="0">
              <a:spcAft>
                <a:spcPts val="1600"/>
              </a:spcAft>
              <a:buNone/>
            </a:pPr>
            <a:endParaRPr/>
          </a:p>
        </p:txBody>
      </p:sp>
      <p:pic>
        <p:nvPicPr>
          <p:cNvPr id="164" name="Google Shape;164;p24"/>
          <p:cNvPicPr preferRelativeResize="0"/>
          <p:nvPr/>
        </p:nvPicPr>
        <p:blipFill>
          <a:blip r:embed="rId3">
            <a:alphaModFix/>
          </a:blip>
          <a:stretch>
            <a:fillRect/>
          </a:stretch>
        </p:blipFill>
        <p:spPr>
          <a:xfrm>
            <a:off x="355668" y="1824767"/>
            <a:ext cx="5685833" cy="4665300"/>
          </a:xfrm>
          <a:prstGeom prst="rect">
            <a:avLst/>
          </a:prstGeom>
          <a:noFill/>
          <a:ln>
            <a:noFill/>
          </a:ln>
        </p:spPr>
      </p:pic>
      <p:pic>
        <p:nvPicPr>
          <p:cNvPr id="165" name="Google Shape;165;p24"/>
          <p:cNvPicPr preferRelativeResize="0"/>
          <p:nvPr/>
        </p:nvPicPr>
        <p:blipFill>
          <a:blip r:embed="rId4">
            <a:alphaModFix/>
          </a:blip>
          <a:stretch>
            <a:fillRect/>
          </a:stretch>
        </p:blipFill>
        <p:spPr>
          <a:xfrm>
            <a:off x="5964101" y="1738416"/>
            <a:ext cx="5913132" cy="4838000"/>
          </a:xfrm>
          <a:prstGeom prst="rect">
            <a:avLst/>
          </a:prstGeom>
          <a:noFill/>
          <a:ln>
            <a:noFill/>
          </a:ln>
        </p:spPr>
      </p:pic>
      <p:sp>
        <p:nvSpPr>
          <p:cNvPr id="166" name="Google Shape;166;p24"/>
          <p:cNvSpPr txBox="1"/>
          <p:nvPr/>
        </p:nvSpPr>
        <p:spPr>
          <a:xfrm>
            <a:off x="5478933" y="906934"/>
            <a:ext cx="5131200" cy="861734"/>
          </a:xfrm>
          <a:prstGeom prst="rect">
            <a:avLst/>
          </a:prstGeom>
          <a:noFill/>
          <a:ln>
            <a:noFill/>
          </a:ln>
        </p:spPr>
        <p:txBody>
          <a:bodyPr spcFirstLastPara="1" wrap="square" lIns="121900" tIns="121900" rIns="121900" bIns="121900" anchor="t" anchorCtr="0">
            <a:spAutoFit/>
          </a:bodyPr>
          <a:lstStyle/>
          <a:p>
            <a:pPr algn="ctr"/>
            <a:r>
              <a:rPr lang="en" sz="2000">
                <a:solidFill>
                  <a:schemeClr val="dk1"/>
                </a:solidFill>
                <a:latin typeface="Roboto"/>
                <a:ea typeface="Roboto"/>
                <a:cs typeface="Roboto"/>
                <a:sym typeface="Roboto"/>
              </a:rPr>
              <a:t>High importance variables: </a:t>
            </a:r>
            <a:endParaRPr sz="2000">
              <a:solidFill>
                <a:schemeClr val="dk1"/>
              </a:solidFill>
              <a:latin typeface="Roboto"/>
              <a:ea typeface="Roboto"/>
              <a:cs typeface="Roboto"/>
              <a:sym typeface="Roboto"/>
            </a:endParaRPr>
          </a:p>
          <a:p>
            <a:pPr algn="ctr"/>
            <a:r>
              <a:rPr lang="en" sz="2000">
                <a:solidFill>
                  <a:schemeClr val="dk1"/>
                </a:solidFill>
                <a:latin typeface="Roboto"/>
                <a:ea typeface="Roboto"/>
                <a:cs typeface="Roboto"/>
                <a:sym typeface="Roboto"/>
              </a:rPr>
              <a:t>Age. Group and Type.of.Days</a:t>
            </a:r>
            <a:endParaRPr sz="2000">
              <a:solidFill>
                <a:schemeClr val="dk1"/>
              </a:solidFill>
              <a:latin typeface="Roboto"/>
              <a:ea typeface="Roboto"/>
              <a:cs typeface="Roboto"/>
              <a:sym typeface="Roboto"/>
            </a:endParaRPr>
          </a:p>
        </p:txBody>
      </p:sp>
    </p:spTree>
    <p:extLst>
      <p:ext uri="{BB962C8B-B14F-4D97-AF65-F5344CB8AC3E}">
        <p14:creationId xmlns:p14="http://schemas.microsoft.com/office/powerpoint/2010/main" val="42851790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25"/>
          <p:cNvSpPr txBox="1">
            <a:spLocks noGrp="1"/>
          </p:cNvSpPr>
          <p:nvPr>
            <p:ph type="title"/>
          </p:nvPr>
        </p:nvSpPr>
        <p:spPr>
          <a:xfrm>
            <a:off x="517200" y="610700"/>
            <a:ext cx="11157600" cy="914800"/>
          </a:xfrm>
          <a:prstGeom prst="rect">
            <a:avLst/>
          </a:prstGeom>
        </p:spPr>
        <p:txBody>
          <a:bodyPr spcFirstLastPara="1" wrap="square" lIns="121900" tIns="121900" rIns="121900" bIns="121900" anchor="b" anchorCtr="0">
            <a:normAutofit/>
          </a:bodyPr>
          <a:lstStyle/>
          <a:p>
            <a:r>
              <a:rPr lang="en"/>
              <a:t>BEST REGRESSION MODEL</a:t>
            </a:r>
            <a:endParaRPr/>
          </a:p>
        </p:txBody>
      </p:sp>
      <p:sp>
        <p:nvSpPr>
          <p:cNvPr id="172" name="Google Shape;172;p25"/>
          <p:cNvSpPr txBox="1">
            <a:spLocks noGrp="1"/>
          </p:cNvSpPr>
          <p:nvPr>
            <p:ph type="body" idx="1"/>
          </p:nvPr>
        </p:nvSpPr>
        <p:spPr>
          <a:xfrm>
            <a:off x="517200" y="1759165"/>
            <a:ext cx="11157600" cy="4105200"/>
          </a:xfrm>
          <a:prstGeom prst="rect">
            <a:avLst/>
          </a:prstGeom>
        </p:spPr>
        <p:txBody>
          <a:bodyPr spcFirstLastPara="1" wrap="square" lIns="121900" tIns="121900" rIns="121900" bIns="121900" anchor="t" anchorCtr="0">
            <a:normAutofit lnSpcReduction="20000"/>
          </a:bodyPr>
          <a:lstStyle/>
          <a:p>
            <a:pPr marL="0" indent="0">
              <a:buNone/>
            </a:pPr>
            <a:r>
              <a:rPr lang="en"/>
              <a:t>Other Possible Regression: Quadratic, exponential, Linear model with Interaction terms</a:t>
            </a:r>
            <a:endParaRPr/>
          </a:p>
          <a:p>
            <a:pPr marL="0" indent="0">
              <a:spcBef>
                <a:spcPts val="1600"/>
              </a:spcBef>
              <a:buNone/>
            </a:pPr>
            <a:r>
              <a:rPr lang="en" b="1"/>
              <a:t>Model: </a:t>
            </a:r>
            <a:r>
              <a:rPr lang="en"/>
              <a:t>Linear </a:t>
            </a:r>
            <a:endParaRPr/>
          </a:p>
          <a:p>
            <a:pPr marL="0" indent="0">
              <a:spcBef>
                <a:spcPts val="1600"/>
              </a:spcBef>
              <a:buNone/>
            </a:pPr>
            <a:endParaRPr/>
          </a:p>
          <a:p>
            <a:pPr marL="0" indent="609585">
              <a:lnSpc>
                <a:spcPct val="100000"/>
              </a:lnSpc>
              <a:spcBef>
                <a:spcPts val="1600"/>
              </a:spcBef>
              <a:buNone/>
            </a:pPr>
            <a:r>
              <a:rPr lang="en" sz="2133" u="sng"/>
              <a:t>Linear regression model with Interaction Terms:</a:t>
            </a:r>
            <a:endParaRPr u="sng"/>
          </a:p>
          <a:p>
            <a:pPr marL="0" indent="0">
              <a:buNone/>
            </a:pPr>
            <a:endParaRPr/>
          </a:p>
          <a:p>
            <a:pPr marL="0" indent="0">
              <a:spcBef>
                <a:spcPts val="1600"/>
              </a:spcBef>
              <a:buNone/>
            </a:pPr>
            <a:endParaRPr/>
          </a:p>
          <a:p>
            <a:pPr marL="0" indent="0">
              <a:spcBef>
                <a:spcPts val="1600"/>
              </a:spcBef>
              <a:spcAft>
                <a:spcPts val="1600"/>
              </a:spcAft>
              <a:buNone/>
            </a:pPr>
            <a:endParaRPr/>
          </a:p>
        </p:txBody>
      </p:sp>
      <p:pic>
        <p:nvPicPr>
          <p:cNvPr id="173" name="Google Shape;173;p25"/>
          <p:cNvPicPr preferRelativeResize="0"/>
          <p:nvPr/>
        </p:nvPicPr>
        <p:blipFill>
          <a:blip r:embed="rId3">
            <a:alphaModFix/>
          </a:blip>
          <a:stretch>
            <a:fillRect/>
          </a:stretch>
        </p:blipFill>
        <p:spPr>
          <a:xfrm>
            <a:off x="614967" y="3213851"/>
            <a:ext cx="10480799" cy="430300"/>
          </a:xfrm>
          <a:prstGeom prst="rect">
            <a:avLst/>
          </a:prstGeom>
          <a:noFill/>
          <a:ln>
            <a:noFill/>
          </a:ln>
        </p:spPr>
      </p:pic>
      <p:sp>
        <p:nvSpPr>
          <p:cNvPr id="174" name="Google Shape;174;p25"/>
          <p:cNvSpPr txBox="1"/>
          <p:nvPr/>
        </p:nvSpPr>
        <p:spPr>
          <a:xfrm>
            <a:off x="474567" y="4237800"/>
            <a:ext cx="10761600" cy="923289"/>
          </a:xfrm>
          <a:prstGeom prst="rect">
            <a:avLst/>
          </a:prstGeom>
          <a:noFill/>
          <a:ln>
            <a:noFill/>
          </a:ln>
        </p:spPr>
        <p:txBody>
          <a:bodyPr spcFirstLastPara="1" wrap="square" lIns="121900" tIns="121900" rIns="121900" bIns="121900" anchor="t" anchorCtr="0">
            <a:spAutoFit/>
          </a:bodyPr>
          <a:lstStyle/>
          <a:p>
            <a:r>
              <a:rPr lang="en" sz="2267" b="1">
                <a:solidFill>
                  <a:schemeClr val="dk1"/>
                </a:solidFill>
                <a:latin typeface="Roboto"/>
                <a:ea typeface="Roboto"/>
                <a:cs typeface="Roboto"/>
                <a:sym typeface="Roboto"/>
              </a:rPr>
              <a:t>Model1: </a:t>
            </a:r>
            <a:endParaRPr sz="2267" b="1">
              <a:solidFill>
                <a:schemeClr val="dk1"/>
              </a:solidFill>
              <a:latin typeface="Roboto"/>
              <a:ea typeface="Roboto"/>
              <a:cs typeface="Roboto"/>
              <a:sym typeface="Roboto"/>
            </a:endParaRPr>
          </a:p>
          <a:p>
            <a:endParaRPr sz="2133">
              <a:solidFill>
                <a:schemeClr val="dk1"/>
              </a:solidFill>
              <a:latin typeface="Roboto"/>
              <a:ea typeface="Roboto"/>
              <a:cs typeface="Roboto"/>
              <a:sym typeface="Roboto"/>
            </a:endParaRPr>
          </a:p>
        </p:txBody>
      </p:sp>
      <p:pic>
        <p:nvPicPr>
          <p:cNvPr id="175" name="Google Shape;175;p25"/>
          <p:cNvPicPr preferRelativeResize="0"/>
          <p:nvPr/>
        </p:nvPicPr>
        <p:blipFill>
          <a:blip r:embed="rId4">
            <a:alphaModFix/>
          </a:blip>
          <a:stretch>
            <a:fillRect/>
          </a:stretch>
        </p:blipFill>
        <p:spPr>
          <a:xfrm>
            <a:off x="614967" y="4761334"/>
            <a:ext cx="10621200" cy="540060"/>
          </a:xfrm>
          <a:prstGeom prst="rect">
            <a:avLst/>
          </a:prstGeom>
          <a:noFill/>
          <a:ln>
            <a:noFill/>
          </a:ln>
        </p:spPr>
      </p:pic>
      <p:sp>
        <p:nvSpPr>
          <p:cNvPr id="176" name="Google Shape;176;p25"/>
          <p:cNvSpPr txBox="1"/>
          <p:nvPr/>
        </p:nvSpPr>
        <p:spPr>
          <a:xfrm>
            <a:off x="474567" y="5390200"/>
            <a:ext cx="10761600" cy="923289"/>
          </a:xfrm>
          <a:prstGeom prst="rect">
            <a:avLst/>
          </a:prstGeom>
          <a:noFill/>
          <a:ln>
            <a:noFill/>
          </a:ln>
        </p:spPr>
        <p:txBody>
          <a:bodyPr spcFirstLastPara="1" wrap="square" lIns="121900" tIns="121900" rIns="121900" bIns="121900" anchor="t" anchorCtr="0">
            <a:spAutoFit/>
          </a:bodyPr>
          <a:lstStyle/>
          <a:p>
            <a:r>
              <a:rPr lang="en" sz="2267" b="1">
                <a:solidFill>
                  <a:schemeClr val="dk1"/>
                </a:solidFill>
                <a:latin typeface="Roboto"/>
                <a:ea typeface="Roboto"/>
                <a:cs typeface="Roboto"/>
                <a:sym typeface="Roboto"/>
              </a:rPr>
              <a:t>Model2: </a:t>
            </a:r>
            <a:endParaRPr sz="2267" b="1">
              <a:solidFill>
                <a:schemeClr val="dk1"/>
              </a:solidFill>
              <a:latin typeface="Roboto"/>
              <a:ea typeface="Roboto"/>
              <a:cs typeface="Roboto"/>
              <a:sym typeface="Roboto"/>
            </a:endParaRPr>
          </a:p>
          <a:p>
            <a:endParaRPr sz="2133">
              <a:solidFill>
                <a:schemeClr val="dk1"/>
              </a:solidFill>
              <a:latin typeface="Roboto"/>
              <a:ea typeface="Roboto"/>
              <a:cs typeface="Roboto"/>
              <a:sym typeface="Roboto"/>
            </a:endParaRPr>
          </a:p>
        </p:txBody>
      </p:sp>
      <p:pic>
        <p:nvPicPr>
          <p:cNvPr id="177" name="Google Shape;177;p25"/>
          <p:cNvPicPr preferRelativeResize="0"/>
          <p:nvPr/>
        </p:nvPicPr>
        <p:blipFill>
          <a:blip r:embed="rId5">
            <a:alphaModFix/>
          </a:blip>
          <a:stretch>
            <a:fillRect/>
          </a:stretch>
        </p:blipFill>
        <p:spPr>
          <a:xfrm>
            <a:off x="614968" y="5963735"/>
            <a:ext cx="10729744" cy="540067"/>
          </a:xfrm>
          <a:prstGeom prst="rect">
            <a:avLst/>
          </a:prstGeom>
          <a:noFill/>
          <a:ln>
            <a:noFill/>
          </a:ln>
        </p:spPr>
      </p:pic>
    </p:spTree>
    <p:extLst>
      <p:ext uri="{BB962C8B-B14F-4D97-AF65-F5344CB8AC3E}">
        <p14:creationId xmlns:p14="http://schemas.microsoft.com/office/powerpoint/2010/main" val="16236481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26"/>
          <p:cNvSpPr txBox="1">
            <a:spLocks noGrp="1"/>
          </p:cNvSpPr>
          <p:nvPr>
            <p:ph type="title"/>
          </p:nvPr>
        </p:nvSpPr>
        <p:spPr>
          <a:xfrm>
            <a:off x="517200" y="610700"/>
            <a:ext cx="11157600" cy="914800"/>
          </a:xfrm>
          <a:prstGeom prst="rect">
            <a:avLst/>
          </a:prstGeom>
        </p:spPr>
        <p:txBody>
          <a:bodyPr spcFirstLastPara="1" wrap="square" lIns="121900" tIns="121900" rIns="121900" bIns="121900" anchor="b" anchorCtr="0">
            <a:normAutofit/>
          </a:bodyPr>
          <a:lstStyle/>
          <a:p>
            <a:r>
              <a:rPr lang="en"/>
              <a:t>Comparing RMSE</a:t>
            </a:r>
            <a:endParaRPr/>
          </a:p>
        </p:txBody>
      </p:sp>
      <p:sp>
        <p:nvSpPr>
          <p:cNvPr id="183" name="Google Shape;183;p26"/>
          <p:cNvSpPr txBox="1">
            <a:spLocks noGrp="1"/>
          </p:cNvSpPr>
          <p:nvPr>
            <p:ph type="body" idx="1"/>
          </p:nvPr>
        </p:nvSpPr>
        <p:spPr>
          <a:xfrm>
            <a:off x="517200" y="1986432"/>
            <a:ext cx="11157600" cy="4105200"/>
          </a:xfrm>
          <a:prstGeom prst="rect">
            <a:avLst/>
          </a:prstGeom>
        </p:spPr>
        <p:txBody>
          <a:bodyPr spcFirstLastPara="1" wrap="square" lIns="121900" tIns="121900" rIns="121900" bIns="121900" anchor="t" anchorCtr="0">
            <a:normAutofit lnSpcReduction="20000"/>
          </a:bodyPr>
          <a:lstStyle/>
          <a:p>
            <a:pPr marL="1219170" indent="609585">
              <a:buNone/>
            </a:pPr>
            <a:r>
              <a:rPr lang="en"/>
              <a:t>Model:</a:t>
            </a:r>
            <a:endParaRPr/>
          </a:p>
          <a:p>
            <a:pPr marL="0" indent="0">
              <a:spcBef>
                <a:spcPts val="1600"/>
              </a:spcBef>
              <a:buNone/>
            </a:pPr>
            <a:endParaRPr/>
          </a:p>
          <a:p>
            <a:pPr marL="1219170" indent="609585">
              <a:spcBef>
                <a:spcPts val="1600"/>
              </a:spcBef>
              <a:buNone/>
            </a:pPr>
            <a:r>
              <a:rPr lang="en"/>
              <a:t>Model1:  </a:t>
            </a:r>
            <a:endParaRPr/>
          </a:p>
          <a:p>
            <a:pPr marL="0" indent="0">
              <a:spcBef>
                <a:spcPts val="1600"/>
              </a:spcBef>
              <a:buNone/>
            </a:pPr>
            <a:endParaRPr/>
          </a:p>
          <a:p>
            <a:pPr marL="1219170" indent="609585">
              <a:spcBef>
                <a:spcPts val="1600"/>
              </a:spcBef>
              <a:buNone/>
            </a:pPr>
            <a:r>
              <a:rPr lang="en"/>
              <a:t>Model 2:</a:t>
            </a:r>
            <a:endParaRPr/>
          </a:p>
          <a:p>
            <a:pPr marL="0" indent="0">
              <a:spcBef>
                <a:spcPts val="1600"/>
              </a:spcBef>
              <a:buNone/>
            </a:pPr>
            <a:endParaRPr/>
          </a:p>
          <a:p>
            <a:pPr marL="0" indent="0">
              <a:spcBef>
                <a:spcPts val="1600"/>
              </a:spcBef>
              <a:spcAft>
                <a:spcPts val="1600"/>
              </a:spcAft>
              <a:buNone/>
            </a:pPr>
            <a:r>
              <a:rPr lang="en"/>
              <a:t>Lower RMSE and MSE indicate better fit and more accurately the model predicts.</a:t>
            </a:r>
            <a:endParaRPr/>
          </a:p>
        </p:txBody>
      </p:sp>
      <p:pic>
        <p:nvPicPr>
          <p:cNvPr id="184" name="Google Shape;184;p26"/>
          <p:cNvPicPr preferRelativeResize="0"/>
          <p:nvPr/>
        </p:nvPicPr>
        <p:blipFill>
          <a:blip r:embed="rId3">
            <a:alphaModFix/>
          </a:blip>
          <a:stretch>
            <a:fillRect/>
          </a:stretch>
        </p:blipFill>
        <p:spPr>
          <a:xfrm>
            <a:off x="3793701" y="1986433"/>
            <a:ext cx="3713700" cy="654664"/>
          </a:xfrm>
          <a:prstGeom prst="rect">
            <a:avLst/>
          </a:prstGeom>
          <a:noFill/>
          <a:ln>
            <a:noFill/>
          </a:ln>
        </p:spPr>
      </p:pic>
      <p:pic>
        <p:nvPicPr>
          <p:cNvPr id="185" name="Google Shape;185;p26"/>
          <p:cNvPicPr preferRelativeResize="0"/>
          <p:nvPr/>
        </p:nvPicPr>
        <p:blipFill>
          <a:blip r:embed="rId4">
            <a:alphaModFix/>
          </a:blip>
          <a:stretch>
            <a:fillRect/>
          </a:stretch>
        </p:blipFill>
        <p:spPr>
          <a:xfrm>
            <a:off x="3855834" y="3031335"/>
            <a:ext cx="3713700" cy="633733"/>
          </a:xfrm>
          <a:prstGeom prst="rect">
            <a:avLst/>
          </a:prstGeom>
          <a:noFill/>
          <a:ln>
            <a:noFill/>
          </a:ln>
        </p:spPr>
      </p:pic>
      <p:pic>
        <p:nvPicPr>
          <p:cNvPr id="186" name="Google Shape;186;p26"/>
          <p:cNvPicPr preferRelativeResize="0"/>
          <p:nvPr/>
        </p:nvPicPr>
        <p:blipFill>
          <a:blip r:embed="rId5">
            <a:alphaModFix/>
          </a:blip>
          <a:stretch>
            <a:fillRect/>
          </a:stretch>
        </p:blipFill>
        <p:spPr>
          <a:xfrm>
            <a:off x="3855834" y="4244868"/>
            <a:ext cx="3713700" cy="671763"/>
          </a:xfrm>
          <a:prstGeom prst="rect">
            <a:avLst/>
          </a:prstGeom>
          <a:noFill/>
          <a:ln>
            <a:noFill/>
          </a:ln>
        </p:spPr>
      </p:pic>
      <p:sp>
        <p:nvSpPr>
          <p:cNvPr id="187" name="Google Shape;187;p26"/>
          <p:cNvSpPr/>
          <p:nvPr/>
        </p:nvSpPr>
        <p:spPr>
          <a:xfrm>
            <a:off x="2171700" y="2730500"/>
            <a:ext cx="6489600" cy="1308000"/>
          </a:xfrm>
          <a:prstGeom prst="ellipse">
            <a:avLst/>
          </a:prstGeom>
          <a:noFill/>
          <a:ln w="19050" cap="flat" cmpd="sng">
            <a:solidFill>
              <a:srgbClr val="FF0000"/>
            </a:solidFill>
            <a:prstDash val="solid"/>
            <a:round/>
            <a:headEnd type="none" w="sm" len="sm"/>
            <a:tailEnd type="none" w="sm" len="sm"/>
          </a:ln>
        </p:spPr>
        <p:txBody>
          <a:bodyPr spcFirstLastPara="1" wrap="square" lIns="121900" tIns="121900" rIns="121900" bIns="121900" anchor="ctr" anchorCtr="0">
            <a:noAutofit/>
          </a:bodyPr>
          <a:lstStyle/>
          <a:p>
            <a:endParaRPr sz="2533"/>
          </a:p>
        </p:txBody>
      </p:sp>
      <p:pic>
        <p:nvPicPr>
          <p:cNvPr id="2" name="Picture 2" descr="Text&#10;&#10;Description automatically generated">
            <a:extLst>
              <a:ext uri="{FF2B5EF4-FFF2-40B4-BE49-F238E27FC236}">
                <a16:creationId xmlns:a16="http://schemas.microsoft.com/office/drawing/2014/main" id="{67F0FC47-BD69-3C79-CA2B-25EC728E21B2}"/>
              </a:ext>
            </a:extLst>
          </p:cNvPr>
          <p:cNvPicPr>
            <a:picLocks noChangeAspect="1"/>
          </p:cNvPicPr>
          <p:nvPr/>
        </p:nvPicPr>
        <p:blipFill>
          <a:blip r:embed="rId6"/>
          <a:stretch>
            <a:fillRect/>
          </a:stretch>
        </p:blipFill>
        <p:spPr>
          <a:xfrm>
            <a:off x="7901189" y="723780"/>
            <a:ext cx="3880833" cy="1739961"/>
          </a:xfrm>
          <a:prstGeom prst="rect">
            <a:avLst/>
          </a:prstGeom>
        </p:spPr>
      </p:pic>
    </p:spTree>
    <p:extLst>
      <p:ext uri="{BB962C8B-B14F-4D97-AF65-F5344CB8AC3E}">
        <p14:creationId xmlns:p14="http://schemas.microsoft.com/office/powerpoint/2010/main" val="6246124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27"/>
          <p:cNvSpPr txBox="1">
            <a:spLocks noGrp="1"/>
          </p:cNvSpPr>
          <p:nvPr>
            <p:ph type="title"/>
          </p:nvPr>
        </p:nvSpPr>
        <p:spPr>
          <a:xfrm>
            <a:off x="517200" y="610700"/>
            <a:ext cx="11157600" cy="914800"/>
          </a:xfrm>
          <a:prstGeom prst="rect">
            <a:avLst/>
          </a:prstGeom>
        </p:spPr>
        <p:txBody>
          <a:bodyPr spcFirstLastPara="1" wrap="square" lIns="121900" tIns="121900" rIns="121900" bIns="121900" anchor="b" anchorCtr="0">
            <a:normAutofit/>
          </a:bodyPr>
          <a:lstStyle/>
          <a:p>
            <a:r>
              <a:rPr lang="en"/>
              <a:t>BIC and AIC:</a:t>
            </a:r>
            <a:endParaRPr/>
          </a:p>
        </p:txBody>
      </p:sp>
      <p:sp>
        <p:nvSpPr>
          <p:cNvPr id="193" name="Google Shape;193;p27"/>
          <p:cNvSpPr txBox="1">
            <a:spLocks noGrp="1"/>
          </p:cNvSpPr>
          <p:nvPr>
            <p:ph type="body" idx="1"/>
          </p:nvPr>
        </p:nvSpPr>
        <p:spPr>
          <a:xfrm>
            <a:off x="517200" y="4666765"/>
            <a:ext cx="11157600" cy="1424800"/>
          </a:xfrm>
          <a:prstGeom prst="rect">
            <a:avLst/>
          </a:prstGeom>
        </p:spPr>
        <p:txBody>
          <a:bodyPr spcFirstLastPara="1" wrap="square" lIns="121900" tIns="121900" rIns="121900" bIns="121900" anchor="t" anchorCtr="0">
            <a:normAutofit/>
          </a:bodyPr>
          <a:lstStyle/>
          <a:p>
            <a:pPr marL="0" indent="0">
              <a:buNone/>
            </a:pPr>
            <a:r>
              <a:rPr lang="en" sz="2267">
                <a:latin typeface="Arial"/>
                <a:ea typeface="Arial"/>
                <a:cs typeface="Arial"/>
                <a:sym typeface="Arial"/>
              </a:rPr>
              <a:t>In model comparison, the model with the lowest AIC and BIC score is preferred.</a:t>
            </a:r>
            <a:endParaRPr sz="2267">
              <a:latin typeface="Arial"/>
              <a:ea typeface="Arial"/>
              <a:cs typeface="Arial"/>
              <a:sym typeface="Arial"/>
            </a:endParaRPr>
          </a:p>
          <a:p>
            <a:pPr marL="0" indent="0">
              <a:spcBef>
                <a:spcPts val="2133"/>
              </a:spcBef>
              <a:spcAft>
                <a:spcPts val="1600"/>
              </a:spcAft>
              <a:buNone/>
            </a:pPr>
            <a:endParaRPr/>
          </a:p>
        </p:txBody>
      </p:sp>
      <p:pic>
        <p:nvPicPr>
          <p:cNvPr id="194" name="Google Shape;194;p27"/>
          <p:cNvPicPr preferRelativeResize="0"/>
          <p:nvPr/>
        </p:nvPicPr>
        <p:blipFill rotWithShape="1">
          <a:blip r:embed="rId3">
            <a:alphaModFix/>
          </a:blip>
          <a:srcRect b="52689"/>
          <a:stretch/>
        </p:blipFill>
        <p:spPr>
          <a:xfrm>
            <a:off x="1716067" y="1858400"/>
            <a:ext cx="2984500" cy="2475467"/>
          </a:xfrm>
          <a:prstGeom prst="rect">
            <a:avLst/>
          </a:prstGeom>
          <a:noFill/>
          <a:ln>
            <a:noFill/>
          </a:ln>
        </p:spPr>
      </p:pic>
      <p:pic>
        <p:nvPicPr>
          <p:cNvPr id="195" name="Google Shape;195;p27"/>
          <p:cNvPicPr preferRelativeResize="0"/>
          <p:nvPr/>
        </p:nvPicPr>
        <p:blipFill rotWithShape="1">
          <a:blip r:embed="rId3">
            <a:alphaModFix/>
          </a:blip>
          <a:srcRect t="55237"/>
          <a:stretch/>
        </p:blipFill>
        <p:spPr>
          <a:xfrm>
            <a:off x="7130367" y="1925067"/>
            <a:ext cx="2984500" cy="2342133"/>
          </a:xfrm>
          <a:prstGeom prst="rect">
            <a:avLst/>
          </a:prstGeom>
          <a:noFill/>
          <a:ln>
            <a:noFill/>
          </a:ln>
        </p:spPr>
      </p:pic>
      <p:sp>
        <p:nvSpPr>
          <p:cNvPr id="196" name="Google Shape;196;p27"/>
          <p:cNvSpPr/>
          <p:nvPr/>
        </p:nvSpPr>
        <p:spPr>
          <a:xfrm>
            <a:off x="1716067" y="2781300"/>
            <a:ext cx="2781200" cy="746800"/>
          </a:xfrm>
          <a:prstGeom prst="ellipse">
            <a:avLst/>
          </a:prstGeom>
          <a:noFill/>
          <a:ln w="19050" cap="flat" cmpd="sng">
            <a:solidFill>
              <a:srgbClr val="FF0000"/>
            </a:solidFill>
            <a:prstDash val="solid"/>
            <a:round/>
            <a:headEnd type="none" w="sm" len="sm"/>
            <a:tailEnd type="none" w="sm" len="sm"/>
          </a:ln>
        </p:spPr>
        <p:txBody>
          <a:bodyPr spcFirstLastPara="1" wrap="square" lIns="121900" tIns="121900" rIns="121900" bIns="121900" anchor="ctr" anchorCtr="0">
            <a:noAutofit/>
          </a:bodyPr>
          <a:lstStyle/>
          <a:p>
            <a:endParaRPr sz="2533"/>
          </a:p>
        </p:txBody>
      </p:sp>
      <p:sp>
        <p:nvSpPr>
          <p:cNvPr id="197" name="Google Shape;197;p27"/>
          <p:cNvSpPr/>
          <p:nvPr/>
        </p:nvSpPr>
        <p:spPr>
          <a:xfrm>
            <a:off x="7037367" y="2933700"/>
            <a:ext cx="2781200" cy="746800"/>
          </a:xfrm>
          <a:prstGeom prst="ellipse">
            <a:avLst/>
          </a:prstGeom>
          <a:noFill/>
          <a:ln w="19050" cap="flat" cmpd="sng">
            <a:solidFill>
              <a:srgbClr val="FF0000"/>
            </a:solidFill>
            <a:prstDash val="solid"/>
            <a:round/>
            <a:headEnd type="none" w="sm" len="sm"/>
            <a:tailEnd type="none" w="sm" len="sm"/>
          </a:ln>
        </p:spPr>
        <p:txBody>
          <a:bodyPr spcFirstLastPara="1" wrap="square" lIns="121900" tIns="121900" rIns="121900" bIns="121900" anchor="ctr" anchorCtr="0">
            <a:noAutofit/>
          </a:bodyPr>
          <a:lstStyle/>
          <a:p>
            <a:endParaRPr sz="2533"/>
          </a:p>
        </p:txBody>
      </p:sp>
    </p:spTree>
    <p:extLst>
      <p:ext uri="{BB962C8B-B14F-4D97-AF65-F5344CB8AC3E}">
        <p14:creationId xmlns:p14="http://schemas.microsoft.com/office/powerpoint/2010/main" val="2734415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28"/>
          <p:cNvSpPr txBox="1">
            <a:spLocks noGrp="1"/>
          </p:cNvSpPr>
          <p:nvPr>
            <p:ph type="body" idx="1"/>
          </p:nvPr>
        </p:nvSpPr>
        <p:spPr>
          <a:xfrm>
            <a:off x="517200" y="1679400"/>
            <a:ext cx="3407200" cy="642400"/>
          </a:xfrm>
          <a:prstGeom prst="rect">
            <a:avLst/>
          </a:prstGeom>
        </p:spPr>
        <p:txBody>
          <a:bodyPr spcFirstLastPara="1" wrap="square" lIns="121900" tIns="121900" rIns="121900" bIns="121900" anchor="t" anchorCtr="0">
            <a:normAutofit/>
          </a:bodyPr>
          <a:lstStyle/>
          <a:p>
            <a:pPr marL="0" indent="0">
              <a:spcAft>
                <a:spcPts val="1600"/>
              </a:spcAft>
              <a:buNone/>
            </a:pPr>
            <a:r>
              <a:rPr lang="en"/>
              <a:t>         Using model1:	</a:t>
            </a:r>
            <a:endParaRPr/>
          </a:p>
        </p:txBody>
      </p:sp>
      <p:pic>
        <p:nvPicPr>
          <p:cNvPr id="203" name="Google Shape;203;p28"/>
          <p:cNvPicPr preferRelativeResize="0"/>
          <p:nvPr/>
        </p:nvPicPr>
        <p:blipFill>
          <a:blip r:embed="rId3">
            <a:alphaModFix/>
          </a:blip>
          <a:stretch>
            <a:fillRect/>
          </a:stretch>
        </p:blipFill>
        <p:spPr>
          <a:xfrm>
            <a:off x="5626201" y="227801"/>
            <a:ext cx="5063260" cy="3441700"/>
          </a:xfrm>
          <a:prstGeom prst="rect">
            <a:avLst/>
          </a:prstGeom>
          <a:noFill/>
          <a:ln>
            <a:noFill/>
          </a:ln>
        </p:spPr>
      </p:pic>
      <p:pic>
        <p:nvPicPr>
          <p:cNvPr id="204" name="Google Shape;204;p28"/>
          <p:cNvPicPr preferRelativeResize="0"/>
          <p:nvPr/>
        </p:nvPicPr>
        <p:blipFill>
          <a:blip r:embed="rId4">
            <a:alphaModFix/>
          </a:blip>
          <a:stretch>
            <a:fillRect/>
          </a:stretch>
        </p:blipFill>
        <p:spPr>
          <a:xfrm>
            <a:off x="1333500" y="2321800"/>
            <a:ext cx="2590800" cy="4284133"/>
          </a:xfrm>
          <a:prstGeom prst="rect">
            <a:avLst/>
          </a:prstGeom>
          <a:noFill/>
          <a:ln>
            <a:noFill/>
          </a:ln>
        </p:spPr>
      </p:pic>
      <p:pic>
        <p:nvPicPr>
          <p:cNvPr id="205" name="Google Shape;205;p28"/>
          <p:cNvPicPr preferRelativeResize="0"/>
          <p:nvPr/>
        </p:nvPicPr>
        <p:blipFill>
          <a:blip r:embed="rId5">
            <a:alphaModFix/>
          </a:blip>
          <a:stretch>
            <a:fillRect/>
          </a:stretch>
        </p:blipFill>
        <p:spPr>
          <a:xfrm>
            <a:off x="6013451" y="3807501"/>
            <a:ext cx="1752600" cy="2898100"/>
          </a:xfrm>
          <a:prstGeom prst="rect">
            <a:avLst/>
          </a:prstGeom>
          <a:noFill/>
          <a:ln>
            <a:noFill/>
          </a:ln>
        </p:spPr>
      </p:pic>
      <p:pic>
        <p:nvPicPr>
          <p:cNvPr id="206" name="Google Shape;206;p28"/>
          <p:cNvPicPr preferRelativeResize="0"/>
          <p:nvPr/>
        </p:nvPicPr>
        <p:blipFill>
          <a:blip r:embed="rId6">
            <a:alphaModFix/>
          </a:blip>
          <a:stretch>
            <a:fillRect/>
          </a:stretch>
        </p:blipFill>
        <p:spPr>
          <a:xfrm>
            <a:off x="9499600" y="3833267"/>
            <a:ext cx="1752600" cy="2846565"/>
          </a:xfrm>
          <a:prstGeom prst="rect">
            <a:avLst/>
          </a:prstGeom>
          <a:noFill/>
          <a:ln>
            <a:noFill/>
          </a:ln>
        </p:spPr>
      </p:pic>
      <p:sp>
        <p:nvSpPr>
          <p:cNvPr id="207" name="Google Shape;207;p28"/>
          <p:cNvSpPr txBox="1">
            <a:spLocks noGrp="1"/>
          </p:cNvSpPr>
          <p:nvPr>
            <p:ph type="body" idx="1"/>
          </p:nvPr>
        </p:nvSpPr>
        <p:spPr>
          <a:xfrm>
            <a:off x="237800" y="227800"/>
            <a:ext cx="5490000" cy="642400"/>
          </a:xfrm>
          <a:prstGeom prst="rect">
            <a:avLst/>
          </a:prstGeom>
        </p:spPr>
        <p:txBody>
          <a:bodyPr spcFirstLastPara="1" wrap="square" lIns="121900" tIns="121900" rIns="121900" bIns="121900" anchor="t" anchorCtr="0">
            <a:normAutofit/>
          </a:bodyPr>
          <a:lstStyle/>
          <a:p>
            <a:pPr marL="0" indent="0">
              <a:spcAft>
                <a:spcPts val="1600"/>
              </a:spcAft>
              <a:buNone/>
            </a:pPr>
            <a:r>
              <a:rPr lang="en"/>
              <a:t>  Obtained results from original data:</a:t>
            </a:r>
            <a:endParaRPr/>
          </a:p>
        </p:txBody>
      </p:sp>
      <p:sp>
        <p:nvSpPr>
          <p:cNvPr id="208" name="Google Shape;208;p28"/>
          <p:cNvSpPr txBox="1">
            <a:spLocks noGrp="1"/>
          </p:cNvSpPr>
          <p:nvPr>
            <p:ph type="body" idx="1"/>
          </p:nvPr>
        </p:nvSpPr>
        <p:spPr>
          <a:xfrm>
            <a:off x="4621000" y="3833267"/>
            <a:ext cx="3407200" cy="642400"/>
          </a:xfrm>
          <a:prstGeom prst="rect">
            <a:avLst/>
          </a:prstGeom>
        </p:spPr>
        <p:txBody>
          <a:bodyPr spcFirstLastPara="1" wrap="square" lIns="121900" tIns="121900" rIns="121900" bIns="121900" anchor="t" anchorCtr="0">
            <a:normAutofit/>
          </a:bodyPr>
          <a:lstStyle/>
          <a:p>
            <a:pPr marL="0" indent="0">
              <a:spcAft>
                <a:spcPts val="1600"/>
              </a:spcAft>
              <a:buNone/>
            </a:pPr>
            <a:r>
              <a:rPr lang="en"/>
              <a:t>model2:	</a:t>
            </a:r>
            <a:endParaRPr/>
          </a:p>
        </p:txBody>
      </p:sp>
      <p:sp>
        <p:nvSpPr>
          <p:cNvPr id="209" name="Google Shape;209;p28"/>
          <p:cNvSpPr txBox="1">
            <a:spLocks noGrp="1"/>
          </p:cNvSpPr>
          <p:nvPr>
            <p:ph type="body" idx="1"/>
          </p:nvPr>
        </p:nvSpPr>
        <p:spPr>
          <a:xfrm>
            <a:off x="8324833" y="3833267"/>
            <a:ext cx="3407200" cy="642400"/>
          </a:xfrm>
          <a:prstGeom prst="rect">
            <a:avLst/>
          </a:prstGeom>
        </p:spPr>
        <p:txBody>
          <a:bodyPr spcFirstLastPara="1" wrap="square" lIns="121900" tIns="121900" rIns="121900" bIns="121900" anchor="t" anchorCtr="0">
            <a:normAutofit/>
          </a:bodyPr>
          <a:lstStyle/>
          <a:p>
            <a:pPr marL="0" indent="0">
              <a:spcAft>
                <a:spcPts val="1600"/>
              </a:spcAft>
              <a:buNone/>
            </a:pPr>
            <a:r>
              <a:rPr lang="en"/>
              <a:t>model:	</a:t>
            </a:r>
            <a:endParaRPr/>
          </a:p>
        </p:txBody>
      </p:sp>
    </p:spTree>
    <p:extLst>
      <p:ext uri="{BB962C8B-B14F-4D97-AF65-F5344CB8AC3E}">
        <p14:creationId xmlns:p14="http://schemas.microsoft.com/office/powerpoint/2010/main" val="19449708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29"/>
          <p:cNvSpPr txBox="1">
            <a:spLocks noGrp="1"/>
          </p:cNvSpPr>
          <p:nvPr>
            <p:ph type="title"/>
          </p:nvPr>
        </p:nvSpPr>
        <p:spPr>
          <a:xfrm>
            <a:off x="517200" y="610700"/>
            <a:ext cx="11157600" cy="914800"/>
          </a:xfrm>
          <a:prstGeom prst="rect">
            <a:avLst/>
          </a:prstGeom>
        </p:spPr>
        <p:txBody>
          <a:bodyPr spcFirstLastPara="1" wrap="square" lIns="121900" tIns="121900" rIns="121900" bIns="121900" anchor="b" anchorCtr="0">
            <a:normAutofit/>
          </a:bodyPr>
          <a:lstStyle/>
          <a:p>
            <a:r>
              <a:rPr lang="en"/>
              <a:t>Brief Data Visualization</a:t>
            </a:r>
            <a:endParaRPr/>
          </a:p>
        </p:txBody>
      </p:sp>
      <p:sp>
        <p:nvSpPr>
          <p:cNvPr id="215" name="Google Shape;215;p29"/>
          <p:cNvSpPr txBox="1">
            <a:spLocks noGrp="1"/>
          </p:cNvSpPr>
          <p:nvPr>
            <p:ph type="body" idx="1"/>
          </p:nvPr>
        </p:nvSpPr>
        <p:spPr>
          <a:xfrm>
            <a:off x="443000" y="1689499"/>
            <a:ext cx="11157600" cy="4105200"/>
          </a:xfrm>
          <a:prstGeom prst="rect">
            <a:avLst/>
          </a:prstGeom>
        </p:spPr>
        <p:txBody>
          <a:bodyPr spcFirstLastPara="1" wrap="square" lIns="121900" tIns="121900" rIns="121900" bIns="121900" anchor="t" anchorCtr="0">
            <a:normAutofit/>
          </a:bodyPr>
          <a:lstStyle/>
          <a:p>
            <a:pPr marL="0" indent="0">
              <a:spcAft>
                <a:spcPts val="1600"/>
              </a:spcAft>
              <a:buNone/>
            </a:pPr>
            <a:r>
              <a:rPr lang="en"/>
              <a:t>Jitter plot: </a:t>
            </a:r>
            <a:endParaRPr/>
          </a:p>
        </p:txBody>
      </p:sp>
      <p:sp>
        <p:nvSpPr>
          <p:cNvPr id="216" name="Google Shape;216;p29"/>
          <p:cNvSpPr txBox="1"/>
          <p:nvPr/>
        </p:nvSpPr>
        <p:spPr>
          <a:xfrm>
            <a:off x="9351833" y="2360233"/>
            <a:ext cx="2864800" cy="635968"/>
          </a:xfrm>
          <a:prstGeom prst="rect">
            <a:avLst/>
          </a:prstGeom>
          <a:noFill/>
          <a:ln>
            <a:noFill/>
          </a:ln>
        </p:spPr>
        <p:txBody>
          <a:bodyPr spcFirstLastPara="1" wrap="square" lIns="121900" tIns="121900" rIns="121900" bIns="121900" anchor="t" anchorCtr="0">
            <a:spAutoFit/>
          </a:bodyPr>
          <a:lstStyle/>
          <a:p>
            <a:endParaRPr sz="2533">
              <a:latin typeface="Roboto"/>
              <a:ea typeface="Roboto"/>
              <a:cs typeface="Roboto"/>
              <a:sym typeface="Roboto"/>
            </a:endParaRPr>
          </a:p>
        </p:txBody>
      </p:sp>
      <p:sp>
        <p:nvSpPr>
          <p:cNvPr id="217" name="Google Shape;217;p29"/>
          <p:cNvSpPr txBox="1"/>
          <p:nvPr/>
        </p:nvSpPr>
        <p:spPr>
          <a:xfrm>
            <a:off x="9292600" y="2083901"/>
            <a:ext cx="2308000" cy="1559104"/>
          </a:xfrm>
          <a:prstGeom prst="rect">
            <a:avLst/>
          </a:prstGeom>
          <a:noFill/>
          <a:ln w="9525" cap="flat" cmpd="sng">
            <a:solidFill>
              <a:schemeClr val="dk1"/>
            </a:solidFill>
            <a:prstDash val="solid"/>
            <a:round/>
            <a:headEnd type="none" w="sm" len="sm"/>
            <a:tailEnd type="none" w="sm" len="sm"/>
          </a:ln>
        </p:spPr>
        <p:txBody>
          <a:bodyPr spcFirstLastPara="1" wrap="square" lIns="121900" tIns="121900" rIns="121900" bIns="121900" anchor="t" anchorCtr="0">
            <a:spAutoFit/>
          </a:bodyPr>
          <a:lstStyle/>
          <a:p>
            <a:r>
              <a:rPr lang="en" sz="2133">
                <a:solidFill>
                  <a:schemeClr val="dk1"/>
                </a:solidFill>
                <a:latin typeface="Roboto"/>
                <a:ea typeface="Roboto"/>
                <a:cs typeface="Roboto"/>
                <a:sym typeface="Roboto"/>
              </a:rPr>
              <a:t>The trend line shows elder people sleep less in general. </a:t>
            </a:r>
            <a:endParaRPr sz="2133">
              <a:solidFill>
                <a:schemeClr val="dk1"/>
              </a:solidFill>
              <a:latin typeface="Roboto"/>
              <a:ea typeface="Roboto"/>
              <a:cs typeface="Roboto"/>
              <a:sym typeface="Roboto"/>
            </a:endParaRPr>
          </a:p>
        </p:txBody>
      </p:sp>
      <p:pic>
        <p:nvPicPr>
          <p:cNvPr id="218" name="Google Shape;218;p29"/>
          <p:cNvPicPr preferRelativeResize="0"/>
          <p:nvPr/>
        </p:nvPicPr>
        <p:blipFill>
          <a:blip r:embed="rId3">
            <a:alphaModFix/>
          </a:blip>
          <a:stretch>
            <a:fillRect/>
          </a:stretch>
        </p:blipFill>
        <p:spPr>
          <a:xfrm>
            <a:off x="2193501" y="2083901"/>
            <a:ext cx="6775900" cy="4182001"/>
          </a:xfrm>
          <a:prstGeom prst="rect">
            <a:avLst/>
          </a:prstGeom>
          <a:noFill/>
          <a:ln>
            <a:noFill/>
          </a:ln>
        </p:spPr>
      </p:pic>
    </p:spTree>
    <p:extLst>
      <p:ext uri="{BB962C8B-B14F-4D97-AF65-F5344CB8AC3E}">
        <p14:creationId xmlns:p14="http://schemas.microsoft.com/office/powerpoint/2010/main" val="35077940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30"/>
          <p:cNvSpPr txBox="1">
            <a:spLocks noGrp="1"/>
          </p:cNvSpPr>
          <p:nvPr>
            <p:ph type="title"/>
          </p:nvPr>
        </p:nvSpPr>
        <p:spPr>
          <a:xfrm>
            <a:off x="422900" y="1345467"/>
            <a:ext cx="2625200" cy="1336000"/>
          </a:xfrm>
          <a:prstGeom prst="rect">
            <a:avLst/>
          </a:prstGeom>
        </p:spPr>
        <p:txBody>
          <a:bodyPr spcFirstLastPara="1" wrap="square" lIns="121900" tIns="121900" rIns="121900" bIns="121900" anchor="b" anchorCtr="0">
            <a:normAutofit fontScale="90000"/>
          </a:bodyPr>
          <a:lstStyle/>
          <a:p>
            <a:pPr algn="r"/>
            <a:r>
              <a:rPr lang="en" sz="2133">
                <a:latin typeface="Roboto"/>
                <a:ea typeface="Roboto"/>
                <a:cs typeface="Roboto"/>
                <a:sym typeface="Roboto"/>
              </a:rPr>
              <a:t>Sample size ratio:</a:t>
            </a:r>
            <a:endParaRPr sz="2133">
              <a:latin typeface="Roboto"/>
              <a:ea typeface="Roboto"/>
              <a:cs typeface="Roboto"/>
              <a:sym typeface="Roboto"/>
            </a:endParaRPr>
          </a:p>
          <a:p>
            <a:pPr algn="r"/>
            <a:endParaRPr sz="2133">
              <a:latin typeface="Roboto"/>
              <a:ea typeface="Roboto"/>
              <a:cs typeface="Roboto"/>
              <a:sym typeface="Roboto"/>
            </a:endParaRPr>
          </a:p>
          <a:p>
            <a:endParaRPr sz="2133">
              <a:latin typeface="Roboto"/>
              <a:ea typeface="Roboto"/>
              <a:cs typeface="Roboto"/>
              <a:sym typeface="Roboto"/>
            </a:endParaRPr>
          </a:p>
          <a:p>
            <a:pPr algn="r"/>
            <a:r>
              <a:rPr lang="en" sz="2133">
                <a:latin typeface="Roboto"/>
                <a:ea typeface="Roboto"/>
                <a:cs typeface="Roboto"/>
                <a:sym typeface="Roboto"/>
              </a:rPr>
              <a:t>Rhat: </a:t>
            </a:r>
            <a:endParaRPr sz="2133">
              <a:latin typeface="Roboto"/>
              <a:ea typeface="Roboto"/>
              <a:cs typeface="Roboto"/>
              <a:sym typeface="Roboto"/>
            </a:endParaRPr>
          </a:p>
        </p:txBody>
      </p:sp>
      <p:pic>
        <p:nvPicPr>
          <p:cNvPr id="224" name="Google Shape;224;p30"/>
          <p:cNvPicPr preferRelativeResize="0"/>
          <p:nvPr/>
        </p:nvPicPr>
        <p:blipFill>
          <a:blip r:embed="rId3">
            <a:alphaModFix/>
          </a:blip>
          <a:stretch>
            <a:fillRect/>
          </a:stretch>
        </p:blipFill>
        <p:spPr>
          <a:xfrm>
            <a:off x="560567" y="2924300"/>
            <a:ext cx="4172332" cy="2513733"/>
          </a:xfrm>
          <a:prstGeom prst="rect">
            <a:avLst/>
          </a:prstGeom>
          <a:noFill/>
          <a:ln>
            <a:noFill/>
          </a:ln>
        </p:spPr>
      </p:pic>
      <p:pic>
        <p:nvPicPr>
          <p:cNvPr id="225" name="Google Shape;225;p30"/>
          <p:cNvPicPr preferRelativeResize="0"/>
          <p:nvPr/>
        </p:nvPicPr>
        <p:blipFill>
          <a:blip r:embed="rId4">
            <a:alphaModFix/>
          </a:blip>
          <a:stretch>
            <a:fillRect/>
          </a:stretch>
        </p:blipFill>
        <p:spPr>
          <a:xfrm>
            <a:off x="4628966" y="4198767"/>
            <a:ext cx="4072885" cy="2513733"/>
          </a:xfrm>
          <a:prstGeom prst="rect">
            <a:avLst/>
          </a:prstGeom>
          <a:noFill/>
          <a:ln>
            <a:noFill/>
          </a:ln>
        </p:spPr>
      </p:pic>
      <p:pic>
        <p:nvPicPr>
          <p:cNvPr id="226" name="Google Shape;226;p30"/>
          <p:cNvPicPr preferRelativeResize="0"/>
          <p:nvPr/>
        </p:nvPicPr>
        <p:blipFill>
          <a:blip r:embed="rId5">
            <a:alphaModFix/>
          </a:blip>
          <a:stretch>
            <a:fillRect/>
          </a:stretch>
        </p:blipFill>
        <p:spPr>
          <a:xfrm>
            <a:off x="8246267" y="2131034"/>
            <a:ext cx="3945735" cy="2435233"/>
          </a:xfrm>
          <a:prstGeom prst="rect">
            <a:avLst/>
          </a:prstGeom>
          <a:noFill/>
          <a:ln>
            <a:noFill/>
          </a:ln>
        </p:spPr>
      </p:pic>
      <p:sp>
        <p:nvSpPr>
          <p:cNvPr id="227" name="Google Shape;227;p30"/>
          <p:cNvSpPr txBox="1"/>
          <p:nvPr/>
        </p:nvSpPr>
        <p:spPr>
          <a:xfrm>
            <a:off x="560567" y="608633"/>
            <a:ext cx="9722800" cy="861734"/>
          </a:xfrm>
          <a:prstGeom prst="rect">
            <a:avLst/>
          </a:prstGeom>
          <a:noFill/>
          <a:ln>
            <a:noFill/>
          </a:ln>
        </p:spPr>
        <p:txBody>
          <a:bodyPr spcFirstLastPara="1" wrap="square" lIns="121900" tIns="121900" rIns="121900" bIns="121900" anchor="t" anchorCtr="0">
            <a:spAutoFit/>
          </a:bodyPr>
          <a:lstStyle/>
          <a:p>
            <a:r>
              <a:rPr lang="en" sz="4000">
                <a:solidFill>
                  <a:schemeClr val="dk1"/>
                </a:solidFill>
                <a:latin typeface="Roboto Slab"/>
                <a:ea typeface="Roboto Slab"/>
                <a:cs typeface="Roboto Slab"/>
                <a:sym typeface="Roboto Slab"/>
              </a:rPr>
              <a:t>Bayesian Model: Using Model 2  </a:t>
            </a:r>
            <a:endParaRPr sz="2533">
              <a:latin typeface="Roboto"/>
              <a:ea typeface="Roboto"/>
              <a:cs typeface="Roboto"/>
              <a:sym typeface="Roboto"/>
            </a:endParaRPr>
          </a:p>
        </p:txBody>
      </p:sp>
      <p:pic>
        <p:nvPicPr>
          <p:cNvPr id="228" name="Google Shape;228;p30"/>
          <p:cNvPicPr preferRelativeResize="0"/>
          <p:nvPr/>
        </p:nvPicPr>
        <p:blipFill>
          <a:blip r:embed="rId6">
            <a:alphaModFix/>
          </a:blip>
          <a:stretch>
            <a:fillRect/>
          </a:stretch>
        </p:blipFill>
        <p:spPr>
          <a:xfrm>
            <a:off x="3048100" y="1345451"/>
            <a:ext cx="6392667" cy="1990100"/>
          </a:xfrm>
          <a:prstGeom prst="rect">
            <a:avLst/>
          </a:prstGeom>
          <a:noFill/>
          <a:ln>
            <a:noFill/>
          </a:ln>
        </p:spPr>
      </p:pic>
    </p:spTree>
    <p:extLst>
      <p:ext uri="{BB962C8B-B14F-4D97-AF65-F5344CB8AC3E}">
        <p14:creationId xmlns:p14="http://schemas.microsoft.com/office/powerpoint/2010/main" val="35377711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31"/>
          <p:cNvSpPr txBox="1">
            <a:spLocks noGrp="1"/>
          </p:cNvSpPr>
          <p:nvPr>
            <p:ph type="title"/>
          </p:nvPr>
        </p:nvSpPr>
        <p:spPr>
          <a:xfrm>
            <a:off x="517200" y="566167"/>
            <a:ext cx="11157600" cy="914800"/>
          </a:xfrm>
          <a:prstGeom prst="rect">
            <a:avLst/>
          </a:prstGeom>
        </p:spPr>
        <p:txBody>
          <a:bodyPr spcFirstLastPara="1" wrap="square" lIns="121900" tIns="121900" rIns="121900" bIns="121900" anchor="b" anchorCtr="0">
            <a:normAutofit/>
          </a:bodyPr>
          <a:lstStyle/>
          <a:p>
            <a:r>
              <a:rPr lang="en"/>
              <a:t>Bayesian Prediction: on year 2017</a:t>
            </a:r>
            <a:endParaRPr/>
          </a:p>
        </p:txBody>
      </p:sp>
      <p:sp>
        <p:nvSpPr>
          <p:cNvPr id="234" name="Google Shape;234;p31"/>
          <p:cNvSpPr txBox="1">
            <a:spLocks noGrp="1"/>
          </p:cNvSpPr>
          <p:nvPr>
            <p:ph type="body" idx="1"/>
          </p:nvPr>
        </p:nvSpPr>
        <p:spPr>
          <a:xfrm>
            <a:off x="517200" y="1796133"/>
            <a:ext cx="11157600" cy="4720400"/>
          </a:xfrm>
          <a:prstGeom prst="rect">
            <a:avLst/>
          </a:prstGeom>
        </p:spPr>
        <p:txBody>
          <a:bodyPr spcFirstLastPara="1" wrap="square" lIns="121900" tIns="121900" rIns="121900" bIns="121900" anchor="t" anchorCtr="0">
            <a:normAutofit/>
          </a:bodyPr>
          <a:lstStyle/>
          <a:p>
            <a:pPr marL="0" indent="0">
              <a:spcAft>
                <a:spcPts val="1600"/>
              </a:spcAft>
              <a:buNone/>
            </a:pPr>
            <a:endParaRPr/>
          </a:p>
        </p:txBody>
      </p:sp>
      <p:pic>
        <p:nvPicPr>
          <p:cNvPr id="235" name="Google Shape;235;p31"/>
          <p:cNvPicPr preferRelativeResize="0"/>
          <p:nvPr/>
        </p:nvPicPr>
        <p:blipFill>
          <a:blip r:embed="rId3">
            <a:alphaModFix/>
          </a:blip>
          <a:stretch>
            <a:fillRect/>
          </a:stretch>
        </p:blipFill>
        <p:spPr>
          <a:xfrm>
            <a:off x="517201" y="1977933"/>
            <a:ext cx="7356068" cy="4538600"/>
          </a:xfrm>
          <a:prstGeom prst="rect">
            <a:avLst/>
          </a:prstGeom>
          <a:noFill/>
          <a:ln>
            <a:noFill/>
          </a:ln>
        </p:spPr>
      </p:pic>
      <p:sp>
        <p:nvSpPr>
          <p:cNvPr id="236" name="Google Shape;236;p31"/>
          <p:cNvSpPr txBox="1"/>
          <p:nvPr/>
        </p:nvSpPr>
        <p:spPr>
          <a:xfrm>
            <a:off x="8654133" y="2153834"/>
            <a:ext cx="2612400" cy="4184951"/>
          </a:xfrm>
          <a:prstGeom prst="rect">
            <a:avLst/>
          </a:prstGeom>
          <a:noFill/>
          <a:ln w="9525" cap="flat" cmpd="sng">
            <a:solidFill>
              <a:schemeClr val="dk1"/>
            </a:solidFill>
            <a:prstDash val="solid"/>
            <a:round/>
            <a:headEnd type="none" w="sm" len="sm"/>
            <a:tailEnd type="none" w="sm" len="sm"/>
          </a:ln>
        </p:spPr>
        <p:txBody>
          <a:bodyPr spcFirstLastPara="1" wrap="square" lIns="121900" tIns="121900" rIns="121900" bIns="121900" anchor="t" anchorCtr="0">
            <a:spAutoFit/>
          </a:bodyPr>
          <a:lstStyle/>
          <a:p>
            <a:r>
              <a:rPr lang="en" sz="2133">
                <a:solidFill>
                  <a:schemeClr val="dk1"/>
                </a:solidFill>
                <a:latin typeface="Roboto"/>
                <a:ea typeface="Roboto"/>
                <a:cs typeface="Roboto"/>
                <a:sym typeface="Roboto"/>
              </a:rPr>
              <a:t>Age: 15-24</a:t>
            </a:r>
            <a:endParaRPr sz="2133">
              <a:solidFill>
                <a:schemeClr val="dk1"/>
              </a:solidFill>
              <a:latin typeface="Roboto"/>
              <a:ea typeface="Roboto"/>
              <a:cs typeface="Roboto"/>
              <a:sym typeface="Roboto"/>
            </a:endParaRPr>
          </a:p>
          <a:p>
            <a:pPr indent="609585"/>
            <a:r>
              <a:rPr lang="en" sz="2133">
                <a:solidFill>
                  <a:schemeClr val="dk1"/>
                </a:solidFill>
                <a:latin typeface="Roboto"/>
                <a:ea typeface="Roboto"/>
                <a:cs typeface="Roboto"/>
                <a:sym typeface="Roboto"/>
              </a:rPr>
              <a:t>8.785299</a:t>
            </a:r>
            <a:endParaRPr sz="2133">
              <a:solidFill>
                <a:schemeClr val="dk1"/>
              </a:solidFill>
              <a:latin typeface="Roboto"/>
              <a:ea typeface="Roboto"/>
              <a:cs typeface="Roboto"/>
              <a:sym typeface="Roboto"/>
            </a:endParaRPr>
          </a:p>
          <a:p>
            <a:r>
              <a:rPr lang="en" sz="2133">
                <a:solidFill>
                  <a:schemeClr val="dk1"/>
                </a:solidFill>
                <a:latin typeface="Roboto"/>
                <a:ea typeface="Roboto"/>
                <a:cs typeface="Roboto"/>
                <a:sym typeface="Roboto"/>
              </a:rPr>
              <a:t>Age: 25-34</a:t>
            </a:r>
            <a:endParaRPr sz="2133">
              <a:solidFill>
                <a:schemeClr val="dk1"/>
              </a:solidFill>
              <a:latin typeface="Roboto"/>
              <a:ea typeface="Roboto"/>
              <a:cs typeface="Roboto"/>
              <a:sym typeface="Roboto"/>
            </a:endParaRPr>
          </a:p>
          <a:p>
            <a:pPr indent="609585"/>
            <a:r>
              <a:rPr lang="en" sz="2133">
                <a:solidFill>
                  <a:schemeClr val="dk1"/>
                </a:solidFill>
                <a:latin typeface="Roboto"/>
                <a:ea typeface="Roboto"/>
                <a:cs typeface="Roboto"/>
                <a:sym typeface="Roboto"/>
              </a:rPr>
              <a:t>8.720025</a:t>
            </a:r>
            <a:endParaRPr sz="2133">
              <a:solidFill>
                <a:schemeClr val="dk1"/>
              </a:solidFill>
              <a:latin typeface="Roboto"/>
              <a:ea typeface="Roboto"/>
              <a:cs typeface="Roboto"/>
              <a:sym typeface="Roboto"/>
            </a:endParaRPr>
          </a:p>
          <a:p>
            <a:r>
              <a:rPr lang="en" sz="2133">
                <a:solidFill>
                  <a:schemeClr val="dk1"/>
                </a:solidFill>
                <a:latin typeface="Roboto"/>
                <a:ea typeface="Roboto"/>
                <a:cs typeface="Roboto"/>
                <a:sym typeface="Roboto"/>
              </a:rPr>
              <a:t>Age: 35-44</a:t>
            </a:r>
            <a:endParaRPr sz="2133">
              <a:solidFill>
                <a:schemeClr val="dk1"/>
              </a:solidFill>
              <a:latin typeface="Roboto"/>
              <a:ea typeface="Roboto"/>
              <a:cs typeface="Roboto"/>
              <a:sym typeface="Roboto"/>
            </a:endParaRPr>
          </a:p>
          <a:p>
            <a:pPr indent="609585"/>
            <a:r>
              <a:rPr lang="en" sz="2133">
                <a:solidFill>
                  <a:schemeClr val="dk1"/>
                </a:solidFill>
                <a:latin typeface="Roboto"/>
                <a:ea typeface="Roboto"/>
                <a:cs typeface="Roboto"/>
                <a:sym typeface="Roboto"/>
              </a:rPr>
              <a:t>8.654752</a:t>
            </a:r>
            <a:endParaRPr sz="2133">
              <a:solidFill>
                <a:schemeClr val="dk1"/>
              </a:solidFill>
              <a:latin typeface="Roboto"/>
              <a:ea typeface="Roboto"/>
              <a:cs typeface="Roboto"/>
              <a:sym typeface="Roboto"/>
            </a:endParaRPr>
          </a:p>
          <a:p>
            <a:r>
              <a:rPr lang="en" sz="2133">
                <a:solidFill>
                  <a:schemeClr val="dk1"/>
                </a:solidFill>
                <a:latin typeface="Roboto"/>
                <a:ea typeface="Roboto"/>
                <a:cs typeface="Roboto"/>
                <a:sym typeface="Roboto"/>
              </a:rPr>
              <a:t>Age: 45-54</a:t>
            </a:r>
            <a:endParaRPr sz="2133">
              <a:solidFill>
                <a:schemeClr val="dk1"/>
              </a:solidFill>
              <a:latin typeface="Roboto"/>
              <a:ea typeface="Roboto"/>
              <a:cs typeface="Roboto"/>
              <a:sym typeface="Roboto"/>
            </a:endParaRPr>
          </a:p>
          <a:p>
            <a:pPr indent="609585"/>
            <a:r>
              <a:rPr lang="en" sz="2133">
                <a:solidFill>
                  <a:schemeClr val="dk1"/>
                </a:solidFill>
                <a:latin typeface="Roboto"/>
                <a:ea typeface="Roboto"/>
                <a:cs typeface="Roboto"/>
                <a:sym typeface="Roboto"/>
              </a:rPr>
              <a:t>8.589479</a:t>
            </a:r>
            <a:endParaRPr sz="2133">
              <a:solidFill>
                <a:schemeClr val="dk1"/>
              </a:solidFill>
              <a:latin typeface="Roboto"/>
              <a:ea typeface="Roboto"/>
              <a:cs typeface="Roboto"/>
              <a:sym typeface="Roboto"/>
            </a:endParaRPr>
          </a:p>
          <a:p>
            <a:r>
              <a:rPr lang="en" sz="2133">
                <a:solidFill>
                  <a:schemeClr val="dk1"/>
                </a:solidFill>
                <a:latin typeface="Roboto"/>
                <a:ea typeface="Roboto"/>
                <a:cs typeface="Roboto"/>
                <a:sym typeface="Roboto"/>
              </a:rPr>
              <a:t>Age: 55-64</a:t>
            </a:r>
            <a:endParaRPr sz="2133">
              <a:solidFill>
                <a:schemeClr val="dk1"/>
              </a:solidFill>
              <a:latin typeface="Roboto"/>
              <a:ea typeface="Roboto"/>
              <a:cs typeface="Roboto"/>
              <a:sym typeface="Roboto"/>
            </a:endParaRPr>
          </a:p>
          <a:p>
            <a:pPr indent="609585"/>
            <a:r>
              <a:rPr lang="en" sz="2133">
                <a:solidFill>
                  <a:schemeClr val="dk1"/>
                </a:solidFill>
                <a:latin typeface="Roboto"/>
                <a:ea typeface="Roboto"/>
                <a:cs typeface="Roboto"/>
                <a:sym typeface="Roboto"/>
              </a:rPr>
              <a:t>8.524205</a:t>
            </a:r>
            <a:endParaRPr sz="2133">
              <a:solidFill>
                <a:schemeClr val="dk1"/>
              </a:solidFill>
              <a:latin typeface="Roboto"/>
              <a:ea typeface="Roboto"/>
              <a:cs typeface="Roboto"/>
              <a:sym typeface="Roboto"/>
            </a:endParaRPr>
          </a:p>
          <a:p>
            <a:r>
              <a:rPr lang="en" sz="2133">
                <a:solidFill>
                  <a:schemeClr val="dk1"/>
                </a:solidFill>
                <a:latin typeface="Roboto"/>
                <a:ea typeface="Roboto"/>
                <a:cs typeface="Roboto"/>
                <a:sym typeface="Roboto"/>
              </a:rPr>
              <a:t>Age: 65 and over</a:t>
            </a:r>
            <a:endParaRPr sz="2133">
              <a:solidFill>
                <a:schemeClr val="dk1"/>
              </a:solidFill>
              <a:latin typeface="Roboto"/>
              <a:ea typeface="Roboto"/>
              <a:cs typeface="Roboto"/>
              <a:sym typeface="Roboto"/>
            </a:endParaRPr>
          </a:p>
          <a:p>
            <a:pPr indent="609585"/>
            <a:r>
              <a:rPr lang="en" sz="2133">
                <a:solidFill>
                  <a:schemeClr val="dk1"/>
                </a:solidFill>
                <a:latin typeface="Roboto"/>
                <a:ea typeface="Roboto"/>
                <a:cs typeface="Roboto"/>
                <a:sym typeface="Roboto"/>
              </a:rPr>
              <a:t>8.458932</a:t>
            </a:r>
            <a:endParaRPr sz="2133">
              <a:solidFill>
                <a:schemeClr val="dk1"/>
              </a:solidFill>
              <a:latin typeface="Roboto"/>
              <a:ea typeface="Roboto"/>
              <a:cs typeface="Roboto"/>
              <a:sym typeface="Roboto"/>
            </a:endParaRPr>
          </a:p>
        </p:txBody>
      </p:sp>
    </p:spTree>
    <p:extLst>
      <p:ext uri="{BB962C8B-B14F-4D97-AF65-F5344CB8AC3E}">
        <p14:creationId xmlns:p14="http://schemas.microsoft.com/office/powerpoint/2010/main" val="279461273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VTI">
  <a:themeElements>
    <a:clrScheme name="AnalogousFromRegularSeed_2SEEDS">
      <a:dk1>
        <a:srgbClr val="000000"/>
      </a:dk1>
      <a:lt1>
        <a:srgbClr val="FFFFFF"/>
      </a:lt1>
      <a:dk2>
        <a:srgbClr val="41243D"/>
      </a:dk2>
      <a:lt2>
        <a:srgbClr val="E2E8E6"/>
      </a:lt2>
      <a:accent1>
        <a:srgbClr val="BC3053"/>
      </a:accent1>
      <a:accent2>
        <a:srgbClr val="CE429F"/>
      </a:accent2>
      <a:accent3>
        <a:srgbClr val="CE5942"/>
      </a:accent3>
      <a:accent4>
        <a:srgbClr val="2FB98E"/>
      </a:accent4>
      <a:accent5>
        <a:srgbClr val="3EB3C0"/>
      </a:accent5>
      <a:accent6>
        <a:srgbClr val="3073BC"/>
      </a:accent6>
      <a:hlink>
        <a:srgbClr val="31937A"/>
      </a:hlink>
      <a:folHlink>
        <a:srgbClr val="7F7F7F"/>
      </a:folHlink>
    </a:clrScheme>
    <a:fontScheme name="Slate">
      <a:majorFont>
        <a:latin typeface="Bodoni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oudy Old Style"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VTI" id="{35C4A07C-0176-4A32-9BCB-B016516853F0}" vid="{9B70D35C-BCA8-4715-BB49-8BE54A7FC07C}"/>
    </a:ext>
  </a:extLst>
</a:theme>
</file>

<file path=ppt/theme/theme2.xml><?xml version="1.0" encoding="utf-8"?>
<a:theme xmlns:a="http://schemas.openxmlformats.org/drawingml/2006/main" name="Marina">
  <a:themeElements>
    <a:clrScheme name="Marina">
      <a:dk1>
        <a:srgbClr val="FFFFFF"/>
      </a:dk1>
      <a:lt1>
        <a:srgbClr val="00517C"/>
      </a:lt1>
      <a:dk2>
        <a:srgbClr val="004065"/>
      </a:dk2>
      <a:lt2>
        <a:srgbClr val="CFD8DC"/>
      </a:lt2>
      <a:accent1>
        <a:srgbClr val="0277BD"/>
      </a:accent1>
      <a:accent2>
        <a:srgbClr val="558B2F"/>
      </a:accent2>
      <a:accent3>
        <a:srgbClr val="009688"/>
      </a:accent3>
      <a:accent4>
        <a:srgbClr val="039BE5"/>
      </a:accent4>
      <a:accent5>
        <a:srgbClr val="8BC34A"/>
      </a:accent5>
      <a:accent6>
        <a:srgbClr val="FFEB38"/>
      </a:accent6>
      <a:hlink>
        <a:srgbClr val="8BC34A"/>
      </a:hlink>
      <a:folHlink>
        <a:srgbClr val="8BC34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2013 - 202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19</Slides>
  <Notes>18</Notes>
  <HiddenSlides>0</HiddenSlides>
  <MMClips>0</MMClips>
  <ScaleCrop>false</ScaleCrop>
  <HeadingPairs>
    <vt:vector size="4" baseType="variant">
      <vt:variant>
        <vt:lpstr>Theme</vt:lpstr>
      </vt:variant>
      <vt:variant>
        <vt:i4>2</vt:i4>
      </vt:variant>
      <vt:variant>
        <vt:lpstr>Slide Titles</vt:lpstr>
      </vt:variant>
      <vt:variant>
        <vt:i4>19</vt:i4>
      </vt:variant>
    </vt:vector>
  </HeadingPairs>
  <TitlesOfParts>
    <vt:vector size="21" baseType="lpstr">
      <vt:lpstr>SlateVTI</vt:lpstr>
      <vt:lpstr>Marina</vt:lpstr>
      <vt:lpstr>SLEEP STUDY</vt:lpstr>
      <vt:lpstr>Background</vt:lpstr>
      <vt:lpstr>FIRST HYPOTHESIS: Are they same? </vt:lpstr>
      <vt:lpstr>SECOND HYPOTHESIS: Older age group sleeps more? </vt:lpstr>
      <vt:lpstr>Brief Data Visualization</vt:lpstr>
      <vt:lpstr>Brief Data Visualization</vt:lpstr>
      <vt:lpstr>Brief Data Visualization</vt:lpstr>
      <vt:lpstr>BEST LINEAR MODEL</vt:lpstr>
      <vt:lpstr>PowerPoint Presentation</vt:lpstr>
      <vt:lpstr>Train and test dataset</vt:lpstr>
      <vt:lpstr>Tree</vt:lpstr>
      <vt:lpstr>Random Forest</vt:lpstr>
      <vt:lpstr>BEST REGRESSION MODEL</vt:lpstr>
      <vt:lpstr>Comparing RMSE</vt:lpstr>
      <vt:lpstr>BIC and AIC:</vt:lpstr>
      <vt:lpstr>PowerPoint Presentation</vt:lpstr>
      <vt:lpstr>Brief Data Visualization</vt:lpstr>
      <vt:lpstr>Sample size ratio:   Rhat: </vt:lpstr>
      <vt:lpstr>Bayesian Prediction: on year 2017</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lastModifiedBy>
  <cp:revision>55</cp:revision>
  <dcterms:created xsi:type="dcterms:W3CDTF">2013-07-15T20:26:40Z</dcterms:created>
  <dcterms:modified xsi:type="dcterms:W3CDTF">2022-12-21T04:37:21Z</dcterms:modified>
</cp:coreProperties>
</file>